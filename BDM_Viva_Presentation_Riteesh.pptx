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93" autoAdjust="0"/>
  </p:normalViewPr>
  <p:slideViewPr>
    <p:cSldViewPr snapToGrid="0" snapToObjects="1">
      <p:cViewPr>
        <p:scale>
          <a:sx n="69" d="100"/>
          <a:sy n="69" d="100"/>
        </p:scale>
        <p:origin x="1200"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eesh Meganathan" userId="bd78c6e793d88719" providerId="LiveId" clId="{C75E6259-D04E-4646-A108-B119A6CBDA9A}"/>
    <pc:docChg chg="undo redo custSel addSld modSld">
      <pc:chgData name="Riteesh Meganathan" userId="bd78c6e793d88719" providerId="LiveId" clId="{C75E6259-D04E-4646-A108-B119A6CBDA9A}" dt="2025-11-16T12:11:49.185" v="950" actId="108"/>
      <pc:docMkLst>
        <pc:docMk/>
      </pc:docMkLst>
      <pc:sldChg chg="modSp mod">
        <pc:chgData name="Riteesh Meganathan" userId="bd78c6e793d88719" providerId="LiveId" clId="{C75E6259-D04E-4646-A108-B119A6CBDA9A}" dt="2025-11-15T21:23:53.978" v="175" actId="404"/>
        <pc:sldMkLst>
          <pc:docMk/>
          <pc:sldMk cId="0" sldId="256"/>
        </pc:sldMkLst>
        <pc:spChg chg="mod">
          <ac:chgData name="Riteesh Meganathan" userId="bd78c6e793d88719" providerId="LiveId" clId="{C75E6259-D04E-4646-A108-B119A6CBDA9A}" dt="2025-11-15T21:23:53.978" v="175" actId="404"/>
          <ac:spMkLst>
            <pc:docMk/>
            <pc:sldMk cId="0" sldId="256"/>
            <ac:spMk id="2" creationId="{00000000-0000-0000-0000-000000000000}"/>
          </ac:spMkLst>
        </pc:spChg>
        <pc:spChg chg="mod">
          <ac:chgData name="Riteesh Meganathan" userId="bd78c6e793d88719" providerId="LiveId" clId="{C75E6259-D04E-4646-A108-B119A6CBDA9A}" dt="2025-11-15T21:20:47.494" v="133" actId="14100"/>
          <ac:spMkLst>
            <pc:docMk/>
            <pc:sldMk cId="0" sldId="256"/>
            <ac:spMk id="3" creationId="{00000000-0000-0000-0000-000000000000}"/>
          </ac:spMkLst>
        </pc:spChg>
      </pc:sldChg>
      <pc:sldChg chg="addSp modSp mod">
        <pc:chgData name="Riteesh Meganathan" userId="bd78c6e793d88719" providerId="LiveId" clId="{C75E6259-D04E-4646-A108-B119A6CBDA9A}" dt="2025-11-15T21:14:43.398" v="102" actId="27636"/>
        <pc:sldMkLst>
          <pc:docMk/>
          <pc:sldMk cId="0" sldId="257"/>
        </pc:sldMkLst>
        <pc:spChg chg="mod">
          <ac:chgData name="Riteesh Meganathan" userId="bd78c6e793d88719" providerId="LiveId" clId="{C75E6259-D04E-4646-A108-B119A6CBDA9A}" dt="2025-11-15T21:11:12.698" v="83" actId="1076"/>
          <ac:spMkLst>
            <pc:docMk/>
            <pc:sldMk cId="0" sldId="257"/>
            <ac:spMk id="2" creationId="{00000000-0000-0000-0000-000000000000}"/>
          </ac:spMkLst>
        </pc:spChg>
        <pc:spChg chg="mod">
          <ac:chgData name="Riteesh Meganathan" userId="bd78c6e793d88719" providerId="LiveId" clId="{C75E6259-D04E-4646-A108-B119A6CBDA9A}" dt="2025-11-15T21:14:43.398" v="102" actId="27636"/>
          <ac:spMkLst>
            <pc:docMk/>
            <pc:sldMk cId="0" sldId="257"/>
            <ac:spMk id="3" creationId="{00000000-0000-0000-0000-000000000000}"/>
          </ac:spMkLst>
        </pc:spChg>
        <pc:picChg chg="add mod">
          <ac:chgData name="Riteesh Meganathan" userId="bd78c6e793d88719" providerId="LiveId" clId="{C75E6259-D04E-4646-A108-B119A6CBDA9A}" dt="2025-11-15T21:12:00.868" v="89" actId="1076"/>
          <ac:picMkLst>
            <pc:docMk/>
            <pc:sldMk cId="0" sldId="257"/>
            <ac:picMk id="5" creationId="{09206DC6-0F6B-07ED-F238-02ED044D40F2}"/>
          </ac:picMkLst>
        </pc:picChg>
        <pc:picChg chg="add mod">
          <ac:chgData name="Riteesh Meganathan" userId="bd78c6e793d88719" providerId="LiveId" clId="{C75E6259-D04E-4646-A108-B119A6CBDA9A}" dt="2025-11-15T21:11:02.856" v="82" actId="1076"/>
          <ac:picMkLst>
            <pc:docMk/>
            <pc:sldMk cId="0" sldId="257"/>
            <ac:picMk id="7" creationId="{A96FCD1B-2C43-F877-B369-B11748879358}"/>
          </ac:picMkLst>
        </pc:picChg>
        <pc:picChg chg="add mod">
          <ac:chgData name="Riteesh Meganathan" userId="bd78c6e793d88719" providerId="LiveId" clId="{C75E6259-D04E-4646-A108-B119A6CBDA9A}" dt="2025-11-15T21:11:54.229" v="88" actId="1076"/>
          <ac:picMkLst>
            <pc:docMk/>
            <pc:sldMk cId="0" sldId="257"/>
            <ac:picMk id="9" creationId="{F2FFF7B9-49C8-0DFF-E64E-3081A4664603}"/>
          </ac:picMkLst>
        </pc:picChg>
      </pc:sldChg>
      <pc:sldChg chg="modSp mod">
        <pc:chgData name="Riteesh Meganathan" userId="bd78c6e793d88719" providerId="LiveId" clId="{C75E6259-D04E-4646-A108-B119A6CBDA9A}" dt="2025-11-15T21:16:39.216" v="108" actId="27636"/>
        <pc:sldMkLst>
          <pc:docMk/>
          <pc:sldMk cId="0" sldId="258"/>
        </pc:sldMkLst>
        <pc:spChg chg="mod">
          <ac:chgData name="Riteesh Meganathan" userId="bd78c6e793d88719" providerId="LiveId" clId="{C75E6259-D04E-4646-A108-B119A6CBDA9A}" dt="2025-11-15T20:13:14.085" v="3"/>
          <ac:spMkLst>
            <pc:docMk/>
            <pc:sldMk cId="0" sldId="258"/>
            <ac:spMk id="2" creationId="{00000000-0000-0000-0000-000000000000}"/>
          </ac:spMkLst>
        </pc:spChg>
        <pc:spChg chg="mod">
          <ac:chgData name="Riteesh Meganathan" userId="bd78c6e793d88719" providerId="LiveId" clId="{C75E6259-D04E-4646-A108-B119A6CBDA9A}" dt="2025-11-15T21:16:39.216" v="108" actId="27636"/>
          <ac:spMkLst>
            <pc:docMk/>
            <pc:sldMk cId="0" sldId="258"/>
            <ac:spMk id="3" creationId="{00000000-0000-0000-0000-000000000000}"/>
          </ac:spMkLst>
        </pc:spChg>
      </pc:sldChg>
      <pc:sldChg chg="addSp delSp modSp mod">
        <pc:chgData name="Riteesh Meganathan" userId="bd78c6e793d88719" providerId="LiveId" clId="{C75E6259-D04E-4646-A108-B119A6CBDA9A}" dt="2025-11-16T12:11:49.185" v="950" actId="108"/>
        <pc:sldMkLst>
          <pc:docMk/>
          <pc:sldMk cId="0" sldId="259"/>
        </pc:sldMkLst>
        <pc:spChg chg="mod">
          <ac:chgData name="Riteesh Meganathan" userId="bd78c6e793d88719" providerId="LiveId" clId="{C75E6259-D04E-4646-A108-B119A6CBDA9A}" dt="2025-11-15T20:13:14.085" v="3"/>
          <ac:spMkLst>
            <pc:docMk/>
            <pc:sldMk cId="0" sldId="259"/>
            <ac:spMk id="2" creationId="{00000000-0000-0000-0000-000000000000}"/>
          </ac:spMkLst>
        </pc:spChg>
        <pc:spChg chg="add del mod">
          <ac:chgData name="Riteesh Meganathan" userId="bd78c6e793d88719" providerId="LiveId" clId="{C75E6259-D04E-4646-A108-B119A6CBDA9A}" dt="2025-11-16T12:11:49.185" v="950" actId="108"/>
          <ac:spMkLst>
            <pc:docMk/>
            <pc:sldMk cId="0" sldId="259"/>
            <ac:spMk id="3" creationId="{00000000-0000-0000-0000-000000000000}"/>
          </ac:spMkLst>
        </pc:spChg>
        <pc:spChg chg="add mod">
          <ac:chgData name="Riteesh Meganathan" userId="bd78c6e793d88719" providerId="LiveId" clId="{C75E6259-D04E-4646-A108-B119A6CBDA9A}" dt="2025-11-15T21:18:11.696" v="111"/>
          <ac:spMkLst>
            <pc:docMk/>
            <pc:sldMk cId="0" sldId="259"/>
            <ac:spMk id="4" creationId="{3C144FD7-80CD-D27A-A90E-940CF8C5D4A8}"/>
          </ac:spMkLst>
        </pc:spChg>
        <pc:spChg chg="add mod">
          <ac:chgData name="Riteesh Meganathan" userId="bd78c6e793d88719" providerId="LiveId" clId="{C75E6259-D04E-4646-A108-B119A6CBDA9A}" dt="2025-11-15T21:18:45.205" v="125"/>
          <ac:spMkLst>
            <pc:docMk/>
            <pc:sldMk cId="0" sldId="259"/>
            <ac:spMk id="5" creationId="{DEAD6623-92DF-C2A1-2851-838678CA84A1}"/>
          </ac:spMkLst>
        </pc:spChg>
      </pc:sldChg>
      <pc:sldChg chg="addSp delSp modSp mod">
        <pc:chgData name="Riteesh Meganathan" userId="bd78c6e793d88719" providerId="LiveId" clId="{C75E6259-D04E-4646-A108-B119A6CBDA9A}" dt="2025-11-15T21:26:46.081" v="224" actId="1076"/>
        <pc:sldMkLst>
          <pc:docMk/>
          <pc:sldMk cId="0" sldId="260"/>
        </pc:sldMkLst>
        <pc:spChg chg="mod">
          <ac:chgData name="Riteesh Meganathan" userId="bd78c6e793d88719" providerId="LiveId" clId="{C75E6259-D04E-4646-A108-B119A6CBDA9A}" dt="2025-11-15T20:13:14.085" v="3"/>
          <ac:spMkLst>
            <pc:docMk/>
            <pc:sldMk cId="0" sldId="260"/>
            <ac:spMk id="2" creationId="{00000000-0000-0000-0000-000000000000}"/>
          </ac:spMkLst>
        </pc:spChg>
        <pc:spChg chg="add del mod">
          <ac:chgData name="Riteesh Meganathan" userId="bd78c6e793d88719" providerId="LiveId" clId="{C75E6259-D04E-4646-A108-B119A6CBDA9A}" dt="2025-11-15T21:26:46.081" v="224" actId="1076"/>
          <ac:spMkLst>
            <pc:docMk/>
            <pc:sldMk cId="0" sldId="260"/>
            <ac:spMk id="3" creationId="{00000000-0000-0000-0000-000000000000}"/>
          </ac:spMkLst>
        </pc:spChg>
        <pc:spChg chg="add mod">
          <ac:chgData name="Riteesh Meganathan" userId="bd78c6e793d88719" providerId="LiveId" clId="{C75E6259-D04E-4646-A108-B119A6CBDA9A}" dt="2025-11-15T21:22:32.892" v="139"/>
          <ac:spMkLst>
            <pc:docMk/>
            <pc:sldMk cId="0" sldId="260"/>
            <ac:spMk id="4" creationId="{AD8E1EAE-1F6F-9883-BB5F-1721C1BE5352}"/>
          </ac:spMkLst>
        </pc:spChg>
        <pc:spChg chg="add mod">
          <ac:chgData name="Riteesh Meganathan" userId="bd78c6e793d88719" providerId="LiveId" clId="{C75E6259-D04E-4646-A108-B119A6CBDA9A}" dt="2025-11-15T21:22:37.217" v="141"/>
          <ac:spMkLst>
            <pc:docMk/>
            <pc:sldMk cId="0" sldId="260"/>
            <ac:spMk id="5" creationId="{872AEF51-C104-FCDC-4C3B-925C75A761AE}"/>
          </ac:spMkLst>
        </pc:spChg>
        <pc:spChg chg="add mod">
          <ac:chgData name="Riteesh Meganathan" userId="bd78c6e793d88719" providerId="LiveId" clId="{C75E6259-D04E-4646-A108-B119A6CBDA9A}" dt="2025-11-15T21:23:22.524" v="150"/>
          <ac:spMkLst>
            <pc:docMk/>
            <pc:sldMk cId="0" sldId="260"/>
            <ac:spMk id="6" creationId="{889A4CF4-6B34-1E0D-E53B-7331B6F0B728}"/>
          </ac:spMkLst>
        </pc:spChg>
        <pc:spChg chg="add">
          <ac:chgData name="Riteesh Meganathan" userId="bd78c6e793d88719" providerId="LiveId" clId="{C75E6259-D04E-4646-A108-B119A6CBDA9A}" dt="2025-11-15T21:23:27.399" v="155"/>
          <ac:spMkLst>
            <pc:docMk/>
            <pc:sldMk cId="0" sldId="260"/>
            <ac:spMk id="7" creationId="{F4A747C8-3556-2B71-14EE-DC9866B19ED1}"/>
          </ac:spMkLst>
        </pc:spChg>
        <pc:spChg chg="add mod">
          <ac:chgData name="Riteesh Meganathan" userId="bd78c6e793d88719" providerId="LiveId" clId="{C75E6259-D04E-4646-A108-B119A6CBDA9A}" dt="2025-11-15T21:23:47.095" v="168"/>
          <ac:spMkLst>
            <pc:docMk/>
            <pc:sldMk cId="0" sldId="260"/>
            <ac:spMk id="8" creationId="{4B459E10-33CF-457B-A023-C48C2B055534}"/>
          </ac:spMkLst>
        </pc:spChg>
        <pc:spChg chg="add mod">
          <ac:chgData name="Riteesh Meganathan" userId="bd78c6e793d88719" providerId="LiveId" clId="{C75E6259-D04E-4646-A108-B119A6CBDA9A}" dt="2025-11-15T21:23:49.383" v="170"/>
          <ac:spMkLst>
            <pc:docMk/>
            <pc:sldMk cId="0" sldId="260"/>
            <ac:spMk id="9" creationId="{51EB3876-2968-01F9-D467-C55CDB6E47FC}"/>
          </ac:spMkLst>
        </pc:spChg>
        <pc:spChg chg="add">
          <ac:chgData name="Riteesh Meganathan" userId="bd78c6e793d88719" providerId="LiveId" clId="{C75E6259-D04E-4646-A108-B119A6CBDA9A}" dt="2025-11-15T21:24:04.958" v="185"/>
          <ac:spMkLst>
            <pc:docMk/>
            <pc:sldMk cId="0" sldId="260"/>
            <ac:spMk id="10" creationId="{A599FEE8-18F9-FB5E-51FB-4A7ED34E6D18}"/>
          </ac:spMkLst>
        </pc:spChg>
        <pc:spChg chg="add">
          <ac:chgData name="Riteesh Meganathan" userId="bd78c6e793d88719" providerId="LiveId" clId="{C75E6259-D04E-4646-A108-B119A6CBDA9A}" dt="2025-11-15T21:24:09.803" v="186"/>
          <ac:spMkLst>
            <pc:docMk/>
            <pc:sldMk cId="0" sldId="260"/>
            <ac:spMk id="11" creationId="{7B8D4D05-632A-BD9B-5A0E-5024F9BCF914}"/>
          </ac:spMkLst>
        </pc:spChg>
        <pc:spChg chg="add">
          <ac:chgData name="Riteesh Meganathan" userId="bd78c6e793d88719" providerId="LiveId" clId="{C75E6259-D04E-4646-A108-B119A6CBDA9A}" dt="2025-11-15T21:24:20.473" v="187"/>
          <ac:spMkLst>
            <pc:docMk/>
            <pc:sldMk cId="0" sldId="260"/>
            <ac:spMk id="12" creationId="{9E492D9A-E3EA-7407-18DD-559C340C0742}"/>
          </ac:spMkLst>
        </pc:spChg>
        <pc:spChg chg="add mod">
          <ac:chgData name="Riteesh Meganathan" userId="bd78c6e793d88719" providerId="LiveId" clId="{C75E6259-D04E-4646-A108-B119A6CBDA9A}" dt="2025-11-15T21:24:31.600" v="190" actId="21"/>
          <ac:spMkLst>
            <pc:docMk/>
            <pc:sldMk cId="0" sldId="260"/>
            <ac:spMk id="13" creationId="{69B01BA4-9947-2132-6528-A0C128597D3A}"/>
          </ac:spMkLst>
        </pc:spChg>
      </pc:sldChg>
      <pc:sldChg chg="addSp delSp modSp mod modNotesTx">
        <pc:chgData name="Riteesh Meganathan" userId="bd78c6e793d88719" providerId="LiveId" clId="{C75E6259-D04E-4646-A108-B119A6CBDA9A}" dt="2025-11-16T07:19:50.318" v="806" actId="20577"/>
        <pc:sldMkLst>
          <pc:docMk/>
          <pc:sldMk cId="0" sldId="261"/>
        </pc:sldMkLst>
        <pc:spChg chg="mod">
          <ac:chgData name="Riteesh Meganathan" userId="bd78c6e793d88719" providerId="LiveId" clId="{C75E6259-D04E-4646-A108-B119A6CBDA9A}" dt="2025-11-15T20:13:14.085" v="3"/>
          <ac:spMkLst>
            <pc:docMk/>
            <pc:sldMk cId="0" sldId="261"/>
            <ac:spMk id="2" creationId="{00000000-0000-0000-0000-000000000000}"/>
          </ac:spMkLst>
        </pc:spChg>
        <pc:spChg chg="mod">
          <ac:chgData name="Riteesh Meganathan" userId="bd78c6e793d88719" providerId="LiveId" clId="{C75E6259-D04E-4646-A108-B119A6CBDA9A}" dt="2025-11-16T07:19:50.318" v="806" actId="20577"/>
          <ac:spMkLst>
            <pc:docMk/>
            <pc:sldMk cId="0" sldId="261"/>
            <ac:spMk id="3" creationId="{00000000-0000-0000-0000-000000000000}"/>
          </ac:spMkLst>
        </pc:spChg>
        <pc:spChg chg="add mod">
          <ac:chgData name="Riteesh Meganathan" userId="bd78c6e793d88719" providerId="LiveId" clId="{C75E6259-D04E-4646-A108-B119A6CBDA9A}" dt="2025-11-16T07:16:50.030" v="780" actId="1076"/>
          <ac:spMkLst>
            <pc:docMk/>
            <pc:sldMk cId="0" sldId="261"/>
            <ac:spMk id="11" creationId="{7857CAF6-9194-8ABB-8CDA-81A998354716}"/>
          </ac:spMkLst>
        </pc:spChg>
        <pc:spChg chg="add mod">
          <ac:chgData name="Riteesh Meganathan" userId="bd78c6e793d88719" providerId="LiveId" clId="{C75E6259-D04E-4646-A108-B119A6CBDA9A}" dt="2025-11-16T07:19:28.630" v="793" actId="1076"/>
          <ac:spMkLst>
            <pc:docMk/>
            <pc:sldMk cId="0" sldId="261"/>
            <ac:spMk id="12" creationId="{EEC62FFE-E383-A1FE-913E-FE9CA2BABF16}"/>
          </ac:spMkLst>
        </pc:spChg>
        <pc:graphicFrameChg chg="add del mod modGraphic">
          <ac:chgData name="Riteesh Meganathan" userId="bd78c6e793d88719" providerId="LiveId" clId="{C75E6259-D04E-4646-A108-B119A6CBDA9A}" dt="2025-11-16T07:14:58.083" v="768" actId="478"/>
          <ac:graphicFrameMkLst>
            <pc:docMk/>
            <pc:sldMk cId="0" sldId="261"/>
            <ac:graphicFrameMk id="9" creationId="{B1716555-756E-74B7-C691-2885E552D22D}"/>
          </ac:graphicFrameMkLst>
        </pc:graphicFrameChg>
        <pc:graphicFrameChg chg="add del mod modGraphic">
          <ac:chgData name="Riteesh Meganathan" userId="bd78c6e793d88719" providerId="LiveId" clId="{C75E6259-D04E-4646-A108-B119A6CBDA9A}" dt="2025-11-16T07:14:00.438" v="767" actId="478"/>
          <ac:graphicFrameMkLst>
            <pc:docMk/>
            <pc:sldMk cId="0" sldId="261"/>
            <ac:graphicFrameMk id="10" creationId="{B1DCB029-B34F-047D-F31A-C1741874D4D4}"/>
          </ac:graphicFrameMkLst>
        </pc:graphicFrameChg>
        <pc:picChg chg="add del mod">
          <ac:chgData name="Riteesh Meganathan" userId="bd78c6e793d88719" providerId="LiveId" clId="{C75E6259-D04E-4646-A108-B119A6CBDA9A}" dt="2025-11-16T06:58:29.257" v="366" actId="21"/>
          <ac:picMkLst>
            <pc:docMk/>
            <pc:sldMk cId="0" sldId="261"/>
            <ac:picMk id="5" creationId="{539A07A2-45FD-EBFF-718A-236A1C75C434}"/>
          </ac:picMkLst>
        </pc:picChg>
        <pc:picChg chg="add del mod">
          <ac:chgData name="Riteesh Meganathan" userId="bd78c6e793d88719" providerId="LiveId" clId="{C75E6259-D04E-4646-A108-B119A6CBDA9A}" dt="2025-11-16T06:58:55.790" v="372" actId="478"/>
          <ac:picMkLst>
            <pc:docMk/>
            <pc:sldMk cId="0" sldId="261"/>
            <ac:picMk id="6" creationId="{539A07A2-45FD-EBFF-718A-236A1C75C434}"/>
          </ac:picMkLst>
        </pc:picChg>
        <pc:picChg chg="add mod">
          <ac:chgData name="Riteesh Meganathan" userId="bd78c6e793d88719" providerId="LiveId" clId="{C75E6259-D04E-4646-A108-B119A6CBDA9A}" dt="2025-11-16T07:01:03.165" v="458" actId="14100"/>
          <ac:picMkLst>
            <pc:docMk/>
            <pc:sldMk cId="0" sldId="261"/>
            <ac:picMk id="8" creationId="{3D6459B1-E012-B1A6-975F-1EF7DB4FEEF2}"/>
          </ac:picMkLst>
        </pc:picChg>
      </pc:sldChg>
      <pc:sldChg chg="addSp delSp modSp mod">
        <pc:chgData name="Riteesh Meganathan" userId="bd78c6e793d88719" providerId="LiveId" clId="{C75E6259-D04E-4646-A108-B119A6CBDA9A}" dt="2025-11-16T07:30:44.636" v="854" actId="1076"/>
        <pc:sldMkLst>
          <pc:docMk/>
          <pc:sldMk cId="0" sldId="262"/>
        </pc:sldMkLst>
        <pc:spChg chg="mod">
          <ac:chgData name="Riteesh Meganathan" userId="bd78c6e793d88719" providerId="LiveId" clId="{C75E6259-D04E-4646-A108-B119A6CBDA9A}" dt="2025-11-15T20:13:14.085" v="3"/>
          <ac:spMkLst>
            <pc:docMk/>
            <pc:sldMk cId="0" sldId="262"/>
            <ac:spMk id="2" creationId="{00000000-0000-0000-0000-000000000000}"/>
          </ac:spMkLst>
        </pc:spChg>
        <pc:spChg chg="add del mod">
          <ac:chgData name="Riteesh Meganathan" userId="bd78c6e793d88719" providerId="LiveId" clId="{C75E6259-D04E-4646-A108-B119A6CBDA9A}" dt="2025-11-16T07:29:35.247" v="845" actId="27636"/>
          <ac:spMkLst>
            <pc:docMk/>
            <pc:sldMk cId="0" sldId="262"/>
            <ac:spMk id="3" creationId="{00000000-0000-0000-0000-000000000000}"/>
          </ac:spMkLst>
        </pc:spChg>
        <pc:spChg chg="add mod">
          <ac:chgData name="Riteesh Meganathan" userId="bd78c6e793d88719" providerId="LiveId" clId="{C75E6259-D04E-4646-A108-B119A6CBDA9A}" dt="2025-11-16T07:24:05.860" v="809"/>
          <ac:spMkLst>
            <pc:docMk/>
            <pc:sldMk cId="0" sldId="262"/>
            <ac:spMk id="4" creationId="{D97F6B7E-ADC6-8EBF-B861-88AFB13DDECE}"/>
          </ac:spMkLst>
        </pc:spChg>
        <pc:spChg chg="add">
          <ac:chgData name="Riteesh Meganathan" userId="bd78c6e793d88719" providerId="LiveId" clId="{C75E6259-D04E-4646-A108-B119A6CBDA9A}" dt="2025-11-16T07:24:11.693" v="813"/>
          <ac:spMkLst>
            <pc:docMk/>
            <pc:sldMk cId="0" sldId="262"/>
            <ac:spMk id="5" creationId="{DC158864-EA6F-9FDB-C07C-EF5A040E33E6}"/>
          </ac:spMkLst>
        </pc:spChg>
        <pc:spChg chg="add">
          <ac:chgData name="Riteesh Meganathan" userId="bd78c6e793d88719" providerId="LiveId" clId="{C75E6259-D04E-4646-A108-B119A6CBDA9A}" dt="2025-11-16T07:24:19.808" v="814"/>
          <ac:spMkLst>
            <pc:docMk/>
            <pc:sldMk cId="0" sldId="262"/>
            <ac:spMk id="6" creationId="{B177F83B-1F58-0BDB-7B8B-1DDE9CFD8B47}"/>
          </ac:spMkLst>
        </pc:spChg>
        <pc:spChg chg="add mod">
          <ac:chgData name="Riteesh Meganathan" userId="bd78c6e793d88719" providerId="LiveId" clId="{C75E6259-D04E-4646-A108-B119A6CBDA9A}" dt="2025-11-16T07:24:24.950" v="816"/>
          <ac:spMkLst>
            <pc:docMk/>
            <pc:sldMk cId="0" sldId="262"/>
            <ac:spMk id="7" creationId="{F85C0D5E-6691-3CAC-A055-5BA3A8D251AA}"/>
          </ac:spMkLst>
        </pc:spChg>
        <pc:picChg chg="add del mod">
          <ac:chgData name="Riteesh Meganathan" userId="bd78c6e793d88719" providerId="LiveId" clId="{C75E6259-D04E-4646-A108-B119A6CBDA9A}" dt="2025-11-16T07:28:40.600" v="834" actId="478"/>
          <ac:picMkLst>
            <pc:docMk/>
            <pc:sldMk cId="0" sldId="262"/>
            <ac:picMk id="9" creationId="{25F462B0-CD1F-D991-E85C-C600057772A3}"/>
          </ac:picMkLst>
        </pc:picChg>
        <pc:picChg chg="add mod">
          <ac:chgData name="Riteesh Meganathan" userId="bd78c6e793d88719" providerId="LiveId" clId="{C75E6259-D04E-4646-A108-B119A6CBDA9A}" dt="2025-11-16T07:29:53.974" v="848" actId="14100"/>
          <ac:picMkLst>
            <pc:docMk/>
            <pc:sldMk cId="0" sldId="262"/>
            <ac:picMk id="11" creationId="{654DCD2C-4BF0-EBA4-EF4E-EFC10964DF38}"/>
          </ac:picMkLst>
        </pc:picChg>
        <pc:picChg chg="add mod">
          <ac:chgData name="Riteesh Meganathan" userId="bd78c6e793d88719" providerId="LiveId" clId="{C75E6259-D04E-4646-A108-B119A6CBDA9A}" dt="2025-11-16T07:30:44.636" v="854" actId="1076"/>
          <ac:picMkLst>
            <pc:docMk/>
            <pc:sldMk cId="0" sldId="262"/>
            <ac:picMk id="13" creationId="{1E8E76A0-7347-8C01-0B76-0C97FADFAAEC}"/>
          </ac:picMkLst>
        </pc:picChg>
      </pc:sldChg>
      <pc:sldChg chg="addSp delSp modSp mod">
        <pc:chgData name="Riteesh Meganathan" userId="bd78c6e793d88719" providerId="LiveId" clId="{C75E6259-D04E-4646-A108-B119A6CBDA9A}" dt="2025-11-16T08:03:33.895" v="922" actId="1076"/>
        <pc:sldMkLst>
          <pc:docMk/>
          <pc:sldMk cId="0" sldId="263"/>
        </pc:sldMkLst>
        <pc:spChg chg="mod">
          <ac:chgData name="Riteesh Meganathan" userId="bd78c6e793d88719" providerId="LiveId" clId="{C75E6259-D04E-4646-A108-B119A6CBDA9A}" dt="2025-11-16T07:33:26.140" v="857" actId="1076"/>
          <ac:spMkLst>
            <pc:docMk/>
            <pc:sldMk cId="0" sldId="263"/>
            <ac:spMk id="2" creationId="{00000000-0000-0000-0000-000000000000}"/>
          </ac:spMkLst>
        </pc:spChg>
        <pc:spChg chg="mod">
          <ac:chgData name="Riteesh Meganathan" userId="bd78c6e793d88719" providerId="LiveId" clId="{C75E6259-D04E-4646-A108-B119A6CBDA9A}" dt="2025-11-16T08:03:12.791" v="918" actId="14100"/>
          <ac:spMkLst>
            <pc:docMk/>
            <pc:sldMk cId="0" sldId="263"/>
            <ac:spMk id="3" creationId="{00000000-0000-0000-0000-000000000000}"/>
          </ac:spMkLst>
        </pc:spChg>
        <pc:picChg chg="add mod">
          <ac:chgData name="Riteesh Meganathan" userId="bd78c6e793d88719" providerId="LiveId" clId="{C75E6259-D04E-4646-A108-B119A6CBDA9A}" dt="2025-11-16T08:03:33.895" v="922" actId="1076"/>
          <ac:picMkLst>
            <pc:docMk/>
            <pc:sldMk cId="0" sldId="263"/>
            <ac:picMk id="5" creationId="{D9B16A86-546E-C964-D5D3-E7FFA79C34B0}"/>
          </ac:picMkLst>
        </pc:picChg>
        <pc:picChg chg="add del mod">
          <ac:chgData name="Riteesh Meganathan" userId="bd78c6e793d88719" providerId="LiveId" clId="{C75E6259-D04E-4646-A108-B119A6CBDA9A}" dt="2025-11-16T07:57:14.777" v="886" actId="478"/>
          <ac:picMkLst>
            <pc:docMk/>
            <pc:sldMk cId="0" sldId="263"/>
            <ac:picMk id="7" creationId="{3B50F4EA-F74A-3B25-B121-5C102028A14C}"/>
          </ac:picMkLst>
        </pc:picChg>
      </pc:sldChg>
      <pc:sldChg chg="addSp modSp mod">
        <pc:chgData name="Riteesh Meganathan" userId="bd78c6e793d88719" providerId="LiveId" clId="{C75E6259-D04E-4646-A108-B119A6CBDA9A}" dt="2025-11-16T08:02:40.232" v="915" actId="1076"/>
        <pc:sldMkLst>
          <pc:docMk/>
          <pc:sldMk cId="0" sldId="264"/>
        </pc:sldMkLst>
        <pc:spChg chg="mod">
          <ac:chgData name="Riteesh Meganathan" userId="bd78c6e793d88719" providerId="LiveId" clId="{C75E6259-D04E-4646-A108-B119A6CBDA9A}" dt="2025-11-15T20:13:14.085" v="3"/>
          <ac:spMkLst>
            <pc:docMk/>
            <pc:sldMk cId="0" sldId="264"/>
            <ac:spMk id="2" creationId="{00000000-0000-0000-0000-000000000000}"/>
          </ac:spMkLst>
        </pc:spChg>
        <pc:spChg chg="mod">
          <ac:chgData name="Riteesh Meganathan" userId="bd78c6e793d88719" providerId="LiveId" clId="{C75E6259-D04E-4646-A108-B119A6CBDA9A}" dt="2025-11-16T08:01:39.962" v="909" actId="1076"/>
          <ac:spMkLst>
            <pc:docMk/>
            <pc:sldMk cId="0" sldId="264"/>
            <ac:spMk id="3" creationId="{00000000-0000-0000-0000-000000000000}"/>
          </ac:spMkLst>
        </pc:spChg>
        <pc:picChg chg="add mod">
          <ac:chgData name="Riteesh Meganathan" userId="bd78c6e793d88719" providerId="LiveId" clId="{C75E6259-D04E-4646-A108-B119A6CBDA9A}" dt="2025-11-16T08:01:48.840" v="910" actId="1076"/>
          <ac:picMkLst>
            <pc:docMk/>
            <pc:sldMk cId="0" sldId="264"/>
            <ac:picMk id="5" creationId="{7E22D5A6-84E2-B0E2-EFDA-6BA4C461088F}"/>
          </ac:picMkLst>
        </pc:picChg>
        <pc:picChg chg="add mod">
          <ac:chgData name="Riteesh Meganathan" userId="bd78c6e793d88719" providerId="LiveId" clId="{C75E6259-D04E-4646-A108-B119A6CBDA9A}" dt="2025-11-16T08:02:40.232" v="915" actId="1076"/>
          <ac:picMkLst>
            <pc:docMk/>
            <pc:sldMk cId="0" sldId="264"/>
            <ac:picMk id="7" creationId="{F486A8E9-6228-28F7-A250-B7BB7105A0A1}"/>
          </ac:picMkLst>
        </pc:picChg>
      </pc:sldChg>
      <pc:sldChg chg="modSp mod">
        <pc:chgData name="Riteesh Meganathan" userId="bd78c6e793d88719" providerId="LiveId" clId="{C75E6259-D04E-4646-A108-B119A6CBDA9A}" dt="2025-11-16T08:11:20.007" v="935" actId="5793"/>
        <pc:sldMkLst>
          <pc:docMk/>
          <pc:sldMk cId="0" sldId="265"/>
        </pc:sldMkLst>
        <pc:spChg chg="mod">
          <ac:chgData name="Riteesh Meganathan" userId="bd78c6e793d88719" providerId="LiveId" clId="{C75E6259-D04E-4646-A108-B119A6CBDA9A}" dt="2025-11-16T08:10:36.966" v="925" actId="14100"/>
          <ac:spMkLst>
            <pc:docMk/>
            <pc:sldMk cId="0" sldId="265"/>
            <ac:spMk id="2" creationId="{00000000-0000-0000-0000-000000000000}"/>
          </ac:spMkLst>
        </pc:spChg>
        <pc:spChg chg="mod">
          <ac:chgData name="Riteesh Meganathan" userId="bd78c6e793d88719" providerId="LiveId" clId="{C75E6259-D04E-4646-A108-B119A6CBDA9A}" dt="2025-11-16T08:11:20.007" v="935" actId="5793"/>
          <ac:spMkLst>
            <pc:docMk/>
            <pc:sldMk cId="0" sldId="265"/>
            <ac:spMk id="3" creationId="{00000000-0000-0000-0000-000000000000}"/>
          </ac:spMkLst>
        </pc:spChg>
      </pc:sldChg>
      <pc:sldChg chg="modSp new mod">
        <pc:chgData name="Riteesh Meganathan" userId="bd78c6e793d88719" providerId="LiveId" clId="{C75E6259-D04E-4646-A108-B119A6CBDA9A}" dt="2025-11-16T08:12:46.722" v="949" actId="5793"/>
        <pc:sldMkLst>
          <pc:docMk/>
          <pc:sldMk cId="844802689" sldId="266"/>
        </pc:sldMkLst>
        <pc:spChg chg="mod">
          <ac:chgData name="Riteesh Meganathan" userId="bd78c6e793d88719" providerId="LiveId" clId="{C75E6259-D04E-4646-A108-B119A6CBDA9A}" dt="2025-11-16T08:12:13.651" v="937"/>
          <ac:spMkLst>
            <pc:docMk/>
            <pc:sldMk cId="844802689" sldId="266"/>
            <ac:spMk id="2" creationId="{3D5B079F-F958-0625-5F24-D0CC1C597D45}"/>
          </ac:spMkLst>
        </pc:spChg>
        <pc:spChg chg="mod">
          <ac:chgData name="Riteesh Meganathan" userId="bd78c6e793d88719" providerId="LiveId" clId="{C75E6259-D04E-4646-A108-B119A6CBDA9A}" dt="2025-11-16T08:12:46.722" v="949" actId="5793"/>
          <ac:spMkLst>
            <pc:docMk/>
            <pc:sldMk cId="844802689" sldId="266"/>
            <ac:spMk id="3" creationId="{B1FA44CC-1834-CADD-C991-9BD33CB8680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923B5F-4188-4769-9F3C-EA2CD88054E1}" type="datetimeFigureOut">
              <a:rPr lang="en-IN" smtClean="0"/>
              <a:t>16-11-2025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66B9D3-1266-4672-B637-1977B103B044}" type="slidenum">
              <a:rPr lang="en-IN" smtClean="0"/>
              <a:t>‹#›</a:t>
            </a:fld>
            <a:endParaRPr lang="en-IN"/>
          </a:p>
        </p:txBody>
      </p:sp>
    </p:spTree>
    <p:extLst>
      <p:ext uri="{BB962C8B-B14F-4D97-AF65-F5344CB8AC3E}">
        <p14:creationId xmlns:p14="http://schemas.microsoft.com/office/powerpoint/2010/main" val="4260497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Business clients place slightly larger orders on average (3124 bags) compared to individual clients (2948 bags), although both groups share the same median value of 3000 bags. The standard deviation is moderately high for both categories, showing some variability in order size, but overall the skewness values are close to zero, indicating a balanced mix of small and large orders across both client types.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Madurai contributes the majority of the orders, making it the primary demand center for the business. Coimbatore shows moderate demand with a slightly higher average order size, whereas Theni has the smallest number of orders but still maintains steady medium-volume purchases. Across all three regions, the average order size is fairly similar, indicating consistent customer behaviour and stable demand patterns.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IN" dirty="0"/>
          </a:p>
        </p:txBody>
      </p:sp>
      <p:sp>
        <p:nvSpPr>
          <p:cNvPr id="4" name="Slide Number Placeholder 3"/>
          <p:cNvSpPr>
            <a:spLocks noGrp="1"/>
          </p:cNvSpPr>
          <p:nvPr>
            <p:ph type="sldNum" sz="quarter" idx="5"/>
          </p:nvPr>
        </p:nvSpPr>
        <p:spPr/>
        <p:txBody>
          <a:bodyPr/>
          <a:lstStyle/>
          <a:p>
            <a:fld id="{D466B9D3-1266-4672-B637-1977B103B044}" type="slidenum">
              <a:rPr lang="en-IN" smtClean="0"/>
              <a:t>6</a:t>
            </a:fld>
            <a:endParaRPr lang="en-IN"/>
          </a:p>
        </p:txBody>
      </p:sp>
    </p:spTree>
    <p:extLst>
      <p:ext uri="{BB962C8B-B14F-4D97-AF65-F5344CB8AC3E}">
        <p14:creationId xmlns:p14="http://schemas.microsoft.com/office/powerpoint/2010/main" val="1279792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 started by preparing a month-wise demand series from 2022 to 2025.</a:t>
            </a:r>
            <a:br>
              <a:rPr lang="en-US" dirty="0"/>
            </a:br>
            <a:r>
              <a:rPr lang="en-US" dirty="0"/>
              <a:t>Linear Regression showed a general increasing trend but failed to follow the frequent spikes in demand. These spikes usually occur during festival seasons or when major clients place bulk orders. The model's MAPE was around 50%, which is too high for forecasting.</a:t>
            </a:r>
          </a:p>
          <a:p>
            <a:r>
              <a:rPr lang="en-US" dirty="0"/>
              <a:t>Next, I tested Polynomial Regression with degrees from 1 to 10. Higher degrees started overfitting, but Degree 7 gave the optimal balance. It reduced the MAPE to around 23%, meaning it captured the nonlinear behaviour effectively. This forecast can help the business in deciding raw material purchases, planning manpower, and allocating production effort ahead of high-demand months.”</a:t>
            </a:r>
          </a:p>
          <a:p>
            <a:endParaRPr lang="en-IN" dirty="0"/>
          </a:p>
        </p:txBody>
      </p:sp>
      <p:sp>
        <p:nvSpPr>
          <p:cNvPr id="4" name="Slide Number Placeholder 3"/>
          <p:cNvSpPr>
            <a:spLocks noGrp="1"/>
          </p:cNvSpPr>
          <p:nvPr>
            <p:ph type="sldNum" sz="quarter" idx="5"/>
          </p:nvPr>
        </p:nvSpPr>
        <p:spPr/>
        <p:txBody>
          <a:bodyPr/>
          <a:lstStyle/>
          <a:p>
            <a:fld id="{D466B9D3-1266-4672-B637-1977B103B044}" type="slidenum">
              <a:rPr lang="en-IN" smtClean="0"/>
              <a:t>7</a:t>
            </a:fld>
            <a:endParaRPr lang="en-IN"/>
          </a:p>
        </p:txBody>
      </p:sp>
    </p:spTree>
    <p:extLst>
      <p:ext uri="{BB962C8B-B14F-4D97-AF65-F5344CB8AC3E}">
        <p14:creationId xmlns:p14="http://schemas.microsoft.com/office/powerpoint/2010/main" val="3277128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466B9D3-1266-4672-B637-1977B103B044}" type="slidenum">
              <a:rPr lang="en-IN" smtClean="0"/>
              <a:t>8</a:t>
            </a:fld>
            <a:endParaRPr lang="en-IN"/>
          </a:p>
        </p:txBody>
      </p:sp>
    </p:spTree>
    <p:extLst>
      <p:ext uri="{BB962C8B-B14F-4D97-AF65-F5344CB8AC3E}">
        <p14:creationId xmlns:p14="http://schemas.microsoft.com/office/powerpoint/2010/main" val="1297091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5571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0147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8284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7061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0878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556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7752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3544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56131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894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55000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88236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37335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404666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4177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8331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11/16/2025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4390619"/>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206" y="609601"/>
            <a:ext cx="6948746" cy="882316"/>
          </a:xfrm>
        </p:spPr>
        <p:txBody>
          <a:bodyPr>
            <a:noAutofit/>
          </a:bodyPr>
          <a:lstStyle/>
          <a:p>
            <a:pPr algn="ctr"/>
            <a:r>
              <a:rPr lang="en-US" sz="3200" dirty="0"/>
              <a:t>Business Data Management Project</a:t>
            </a:r>
            <a:endParaRPr sz="3200" dirty="0"/>
          </a:p>
        </p:txBody>
      </p:sp>
      <p:sp>
        <p:nvSpPr>
          <p:cNvPr id="3" name="Content Placeholder 2"/>
          <p:cNvSpPr>
            <a:spLocks noGrp="1"/>
          </p:cNvSpPr>
          <p:nvPr>
            <p:ph idx="1"/>
          </p:nvPr>
        </p:nvSpPr>
        <p:spPr>
          <a:xfrm>
            <a:off x="214566" y="1332817"/>
            <a:ext cx="7158385" cy="4342119"/>
          </a:xfrm>
        </p:spPr>
        <p:txBody>
          <a:bodyPr>
            <a:normAutofit/>
          </a:bodyPr>
          <a:lstStyle/>
          <a:p>
            <a:pPr marL="0" indent="0">
              <a:buNone/>
            </a:pPr>
            <a:endParaRPr sz="2000" dirty="0"/>
          </a:p>
          <a:p>
            <a:pPr marL="457200" lvl="1" indent="0">
              <a:buNone/>
            </a:pPr>
            <a:r>
              <a:rPr sz="1800" dirty="0"/>
              <a:t>Demand Forecasting for a Screen-Printing Company</a:t>
            </a:r>
          </a:p>
          <a:p>
            <a:pPr marL="457200" lvl="1" indent="0">
              <a:buNone/>
            </a:pPr>
            <a:r>
              <a:rPr sz="1800" dirty="0"/>
              <a:t>Riteesh TM (Roll No: 23f3002667)</a:t>
            </a:r>
          </a:p>
          <a:p>
            <a:pPr marL="457200" lvl="1" indent="0">
              <a:buNone/>
            </a:pPr>
            <a:r>
              <a:rPr sz="1800" dirty="0"/>
              <a:t>IITM BS Degree Program</a:t>
            </a:r>
          </a:p>
          <a:p>
            <a:pPr marL="457200" lvl="1" indent="0">
              <a:buNone/>
            </a:pPr>
            <a:r>
              <a:rPr sz="1800" dirty="0"/>
              <a:t>Business: Sri Meenakshi Screen Printing, Madurai</a:t>
            </a:r>
          </a:p>
          <a:p>
            <a:pPr marL="457200" lvl="1" indent="0">
              <a:buNone/>
            </a:pPr>
            <a:r>
              <a:rPr sz="1800" dirty="0"/>
              <a:t>Data: 500 Orders (2022–2025)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98516"/>
            <a:ext cx="6347713" cy="1320800"/>
          </a:xfrm>
        </p:spPr>
        <p:txBody>
          <a:bodyPr/>
          <a:lstStyle/>
          <a:p>
            <a:r>
              <a:rPr dirty="0"/>
              <a:t>About the Business</a:t>
            </a:r>
          </a:p>
        </p:txBody>
      </p:sp>
      <p:sp>
        <p:nvSpPr>
          <p:cNvPr id="3" name="Content Placeholder 2"/>
          <p:cNvSpPr>
            <a:spLocks noGrp="1"/>
          </p:cNvSpPr>
          <p:nvPr>
            <p:ph idx="1"/>
          </p:nvPr>
        </p:nvSpPr>
        <p:spPr>
          <a:xfrm>
            <a:off x="-91488" y="1091941"/>
            <a:ext cx="5398780" cy="2511070"/>
          </a:xfrm>
        </p:spPr>
        <p:txBody>
          <a:bodyPr>
            <a:normAutofit lnSpcReduction="10000"/>
          </a:bodyPr>
          <a:lstStyle/>
          <a:p>
            <a:r>
              <a:rPr lang="en-US" sz="1700" dirty="0"/>
              <a:t>Established in 2011, the business manufactures Thamboolam cloth bags in Madurai</a:t>
            </a:r>
          </a:p>
          <a:p>
            <a:r>
              <a:rPr lang="en-US" sz="1700" dirty="0"/>
              <a:t>Offers screen printing, offset printing, and ID card printing services</a:t>
            </a:r>
          </a:p>
          <a:p>
            <a:r>
              <a:rPr lang="en-US" sz="1700" dirty="0"/>
              <a:t>Caters to jewellery retailers, textile stores, and individual clients</a:t>
            </a:r>
          </a:p>
          <a:p>
            <a:r>
              <a:rPr lang="en-US" sz="1700" dirty="0"/>
              <a:t>Supported by a 10-member workforce, handling consistent, high-volume monthly orders</a:t>
            </a:r>
          </a:p>
        </p:txBody>
      </p:sp>
      <p:pic>
        <p:nvPicPr>
          <p:cNvPr id="5" name="Picture 4">
            <a:extLst>
              <a:ext uri="{FF2B5EF4-FFF2-40B4-BE49-F238E27FC236}">
                <a16:creationId xmlns:a16="http://schemas.microsoft.com/office/drawing/2014/main" id="{09206DC6-0F6B-07ED-F238-02ED044D40F2}"/>
              </a:ext>
            </a:extLst>
          </p:cNvPr>
          <p:cNvPicPr>
            <a:picLocks noChangeAspect="1"/>
          </p:cNvPicPr>
          <p:nvPr/>
        </p:nvPicPr>
        <p:blipFill>
          <a:blip r:embed="rId2"/>
          <a:stretch>
            <a:fillRect/>
          </a:stretch>
        </p:blipFill>
        <p:spPr>
          <a:xfrm>
            <a:off x="5439267" y="971180"/>
            <a:ext cx="3174054" cy="2380541"/>
          </a:xfrm>
          <a:prstGeom prst="rect">
            <a:avLst/>
          </a:prstGeom>
        </p:spPr>
      </p:pic>
      <p:pic>
        <p:nvPicPr>
          <p:cNvPr id="7" name="Picture 6">
            <a:extLst>
              <a:ext uri="{FF2B5EF4-FFF2-40B4-BE49-F238E27FC236}">
                <a16:creationId xmlns:a16="http://schemas.microsoft.com/office/drawing/2014/main" id="{A96FCD1B-2C43-F877-B369-B11748879358}"/>
              </a:ext>
            </a:extLst>
          </p:cNvPr>
          <p:cNvPicPr>
            <a:picLocks noChangeAspect="1"/>
          </p:cNvPicPr>
          <p:nvPr/>
        </p:nvPicPr>
        <p:blipFill>
          <a:blip r:embed="rId3"/>
          <a:stretch>
            <a:fillRect/>
          </a:stretch>
        </p:blipFill>
        <p:spPr>
          <a:xfrm>
            <a:off x="538717" y="3603011"/>
            <a:ext cx="3675859" cy="2756894"/>
          </a:xfrm>
          <a:prstGeom prst="rect">
            <a:avLst/>
          </a:prstGeom>
        </p:spPr>
      </p:pic>
      <p:pic>
        <p:nvPicPr>
          <p:cNvPr id="9" name="Picture 8">
            <a:extLst>
              <a:ext uri="{FF2B5EF4-FFF2-40B4-BE49-F238E27FC236}">
                <a16:creationId xmlns:a16="http://schemas.microsoft.com/office/drawing/2014/main" id="{F2FFF7B9-49C8-0DFF-E64E-3081A4664603}"/>
              </a:ext>
            </a:extLst>
          </p:cNvPr>
          <p:cNvPicPr>
            <a:picLocks noChangeAspect="1"/>
          </p:cNvPicPr>
          <p:nvPr/>
        </p:nvPicPr>
        <p:blipFill>
          <a:blip r:embed="rId4"/>
          <a:stretch>
            <a:fillRect/>
          </a:stretch>
        </p:blipFill>
        <p:spPr>
          <a:xfrm>
            <a:off x="5119382" y="3603011"/>
            <a:ext cx="3675859" cy="27568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Statements</a:t>
            </a:r>
          </a:p>
        </p:txBody>
      </p:sp>
      <p:sp>
        <p:nvSpPr>
          <p:cNvPr id="3" name="Content Placeholder 2"/>
          <p:cNvSpPr>
            <a:spLocks noGrp="1"/>
          </p:cNvSpPr>
          <p:nvPr>
            <p:ph idx="1"/>
          </p:nvPr>
        </p:nvSpPr>
        <p:spPr>
          <a:xfrm>
            <a:off x="609598" y="1488613"/>
            <a:ext cx="6724455" cy="4365432"/>
          </a:xfrm>
        </p:spPr>
        <p:txBody>
          <a:bodyPr>
            <a:normAutofit lnSpcReduction="10000"/>
          </a:bodyPr>
          <a:lstStyle/>
          <a:p>
            <a:r>
              <a:rPr lang="en-US" b="1" dirty="0"/>
              <a:t>Seasonal Demand Forecasting</a:t>
            </a:r>
            <a:br>
              <a:rPr lang="en-US" dirty="0"/>
            </a:br>
            <a:r>
              <a:rPr lang="en-US" dirty="0"/>
              <a:t>The business faces fluctuations in monthly orders but lacks a systematic way to analyze trends or predict upcoming demand. This leads to inconsistent raw-material procurement and rush-time production.</a:t>
            </a:r>
          </a:p>
          <a:p>
            <a:r>
              <a:rPr lang="en-US" b="1" dirty="0"/>
              <a:t>High-Value Customer Identification</a:t>
            </a:r>
            <a:br>
              <a:rPr lang="en-US" dirty="0"/>
            </a:br>
            <a:r>
              <a:rPr lang="en-US" dirty="0"/>
              <a:t>All customers are treated the same, and no segmentation is done to find which clients contribute the most to revenue. This reduces the ability to prioritize loyal, bulk-ordering clients.</a:t>
            </a:r>
          </a:p>
          <a:p>
            <a:r>
              <a:rPr lang="en-US" b="1" dirty="0"/>
              <a:t>Regional Demand Analysis</a:t>
            </a:r>
            <a:br>
              <a:rPr lang="en-US" dirty="0"/>
            </a:br>
            <a:r>
              <a:rPr lang="en-US" dirty="0"/>
              <a:t>Orders come from multiple locations across Tamil Nadu, but the business does not analyze which regions generate higher or consistent demand. This limits targeted marketing and efficient delivery planning.</a:t>
            </a:r>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Overview</a:t>
            </a:r>
          </a:p>
        </p:txBody>
      </p:sp>
      <p:sp>
        <p:nvSpPr>
          <p:cNvPr id="3" name="Content Placeholder 2"/>
          <p:cNvSpPr>
            <a:spLocks noGrp="1"/>
          </p:cNvSpPr>
          <p:nvPr>
            <p:ph idx="1"/>
          </p:nvPr>
        </p:nvSpPr>
        <p:spPr>
          <a:xfrm>
            <a:off x="609599" y="1404595"/>
            <a:ext cx="6347714" cy="3864990"/>
          </a:xfrm>
        </p:spPr>
        <p:txBody>
          <a:bodyPr/>
          <a:lstStyle/>
          <a:p>
            <a:r>
              <a:rPr lang="en-US" dirty="0"/>
              <a:t>The dataset contains 500 verified customer orders collected between 2022 and 2025.</a:t>
            </a:r>
          </a:p>
          <a:p>
            <a:r>
              <a:rPr lang="en-US" dirty="0"/>
              <a:t>Each record includes transaction details, such as client type, location, bag specifications, printing requirements, and order quantity.</a:t>
            </a:r>
          </a:p>
          <a:p>
            <a:r>
              <a:rPr lang="en-US" dirty="0"/>
              <a:t>The data was originally maintained in Excel by the business and required cleaning due to inconsistent formats.</a:t>
            </a:r>
          </a:p>
          <a:p>
            <a:r>
              <a:rPr lang="en-US" dirty="0"/>
              <a:t>The final cleaned dataset consists of 14 well-defined fields, enabling reliable descriptive analysis, forecasting, and segmentation.</a:t>
            </a:r>
          </a:p>
          <a:p>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 Cleaning Process</a:t>
            </a:r>
          </a:p>
        </p:txBody>
      </p:sp>
      <p:sp>
        <p:nvSpPr>
          <p:cNvPr id="3" name="Content Placeholder 2"/>
          <p:cNvSpPr>
            <a:spLocks noGrp="1"/>
          </p:cNvSpPr>
          <p:nvPr>
            <p:ph idx="1"/>
          </p:nvPr>
        </p:nvSpPr>
        <p:spPr>
          <a:xfrm>
            <a:off x="433632" y="1270000"/>
            <a:ext cx="7701699" cy="5175315"/>
          </a:xfrm>
        </p:spPr>
        <p:txBody>
          <a:bodyPr>
            <a:normAutofit fontScale="92500" lnSpcReduction="10000"/>
          </a:bodyPr>
          <a:lstStyle/>
          <a:p>
            <a:endParaRPr lang="en-US" dirty="0"/>
          </a:p>
          <a:p>
            <a:pPr marL="0" lvl="0" indent="0" defTabSz="914400" eaLnBrk="0" fontAlgn="base" hangingPunct="0">
              <a:spcBef>
                <a:spcPct val="0"/>
              </a:spcBef>
              <a:spcAft>
                <a:spcPct val="0"/>
              </a:spcAft>
              <a:buClrTx/>
              <a:buSzTx/>
              <a:buNone/>
            </a:pPr>
            <a:r>
              <a:rPr lang="en-US" altLang="en-US" b="1" dirty="0">
                <a:solidFill>
                  <a:schemeClr val="tx1"/>
                </a:solidFill>
                <a:latin typeface="Arial" panose="020B0604020202020204" pitchFamily="34" charset="0"/>
              </a:rPr>
              <a:t>Standardized Date Formats (YYYY-MM-DD)</a:t>
            </a:r>
            <a:br>
              <a:rPr lang="en-US" altLang="en-US" dirty="0">
                <a:solidFill>
                  <a:schemeClr val="tx1"/>
                </a:solidFill>
                <a:latin typeface="Arial" panose="020B0604020202020204" pitchFamily="34" charset="0"/>
              </a:rPr>
            </a:br>
            <a:r>
              <a:rPr lang="en-US" altLang="en-US" i="1" dirty="0">
                <a:solidFill>
                  <a:schemeClr val="tx1"/>
                </a:solidFill>
                <a:latin typeface="Arial" panose="020B0604020202020204" pitchFamily="34" charset="0"/>
              </a:rPr>
              <a:t>Purpose:</a:t>
            </a:r>
            <a:r>
              <a:rPr lang="en-US" altLang="en-US" dirty="0">
                <a:solidFill>
                  <a:schemeClr val="tx1"/>
                </a:solidFill>
                <a:latin typeface="Arial" panose="020B0604020202020204" pitchFamily="34" charset="0"/>
              </a:rPr>
              <a:t> Ensures consistent time-based analysis, monthly aggregation, and forecasting.</a:t>
            </a:r>
          </a:p>
          <a:p>
            <a:pPr marL="0" lvl="0" indent="0" defTabSz="914400" eaLnBrk="0" fontAlgn="base" hangingPunct="0">
              <a:spcBef>
                <a:spcPct val="0"/>
              </a:spcBef>
              <a:spcAft>
                <a:spcPct val="0"/>
              </a:spcAft>
              <a:buClrTx/>
              <a:buSzTx/>
              <a:buNone/>
            </a:pPr>
            <a:endParaRPr lang="en-US" altLang="en-US" b="1" dirty="0">
              <a:solidFill>
                <a:schemeClr val="tx1"/>
              </a:solidFill>
              <a:latin typeface="Arial" panose="020B0604020202020204" pitchFamily="34" charset="0"/>
            </a:endParaRPr>
          </a:p>
          <a:p>
            <a:pPr marL="0" lvl="0" indent="0" defTabSz="914400" eaLnBrk="0" fontAlgn="base" hangingPunct="0">
              <a:spcBef>
                <a:spcPct val="0"/>
              </a:spcBef>
              <a:spcAft>
                <a:spcPct val="0"/>
              </a:spcAft>
              <a:buClrTx/>
              <a:buSzTx/>
              <a:buNone/>
            </a:pPr>
            <a:r>
              <a:rPr lang="en-US" altLang="en-US" b="1" dirty="0">
                <a:solidFill>
                  <a:schemeClr val="tx1"/>
                </a:solidFill>
                <a:latin typeface="Arial" panose="020B0604020202020204" pitchFamily="34" charset="0"/>
              </a:rPr>
              <a:t>Normalized Categorical Fields</a:t>
            </a:r>
            <a:br>
              <a:rPr lang="en-US" altLang="en-US" dirty="0">
                <a:solidFill>
                  <a:schemeClr val="tx1"/>
                </a:solidFill>
                <a:latin typeface="Arial" panose="020B0604020202020204" pitchFamily="34" charset="0"/>
              </a:rPr>
            </a:br>
            <a:r>
              <a:rPr lang="en-US" altLang="en-US" dirty="0">
                <a:solidFill>
                  <a:schemeClr val="tx1"/>
                </a:solidFill>
                <a:latin typeface="Arial" panose="020B0604020202020204" pitchFamily="34" charset="0"/>
              </a:rPr>
              <a:t>(Location, Client Type, Bag </a:t>
            </a:r>
            <a:r>
              <a:rPr lang="en-US" altLang="en-US" dirty="0" err="1">
                <a:solidFill>
                  <a:schemeClr val="tx1"/>
                </a:solidFill>
                <a:latin typeface="Arial" panose="020B0604020202020204" pitchFamily="34" charset="0"/>
              </a:rPr>
              <a:t>Colour</a:t>
            </a:r>
            <a:r>
              <a:rPr lang="en-US" altLang="en-US" dirty="0">
                <a:solidFill>
                  <a:schemeClr val="tx1"/>
                </a:solidFill>
                <a:latin typeface="Arial" panose="020B0604020202020204" pitchFamily="34" charset="0"/>
              </a:rPr>
              <a:t>, Bag Type)</a:t>
            </a:r>
            <a:br>
              <a:rPr lang="en-US" altLang="en-US" dirty="0">
                <a:solidFill>
                  <a:schemeClr val="tx1"/>
                </a:solidFill>
                <a:latin typeface="Arial" panose="020B0604020202020204" pitchFamily="34" charset="0"/>
              </a:rPr>
            </a:br>
            <a:r>
              <a:rPr lang="en-US" altLang="en-US" i="1" dirty="0">
                <a:solidFill>
                  <a:schemeClr val="tx1"/>
                </a:solidFill>
                <a:latin typeface="Arial" panose="020B0604020202020204" pitchFamily="34" charset="0"/>
              </a:rPr>
              <a:t>Purpose:</a:t>
            </a:r>
            <a:r>
              <a:rPr lang="en-US" altLang="en-US" dirty="0">
                <a:solidFill>
                  <a:schemeClr val="tx1"/>
                </a:solidFill>
                <a:latin typeface="Arial" panose="020B0604020202020204" pitchFamily="34" charset="0"/>
              </a:rPr>
              <a:t> Removes variations like “</a:t>
            </a:r>
            <a:r>
              <a:rPr lang="en-US" altLang="en-US" dirty="0" err="1">
                <a:solidFill>
                  <a:schemeClr val="tx1"/>
                </a:solidFill>
                <a:latin typeface="Arial" panose="020B0604020202020204" pitchFamily="34" charset="0"/>
              </a:rPr>
              <a:t>madurai</a:t>
            </a:r>
            <a:r>
              <a:rPr lang="en-US" altLang="en-US" dirty="0">
                <a:solidFill>
                  <a:schemeClr val="tx1"/>
                </a:solidFill>
                <a:latin typeface="Arial" panose="020B0604020202020204" pitchFamily="34" charset="0"/>
              </a:rPr>
              <a:t>/Madurai” and enables accurate grouping.</a:t>
            </a:r>
          </a:p>
          <a:p>
            <a:pPr marL="0" lvl="0" indent="0" defTabSz="914400" eaLnBrk="0" fontAlgn="base" hangingPunct="0">
              <a:spcBef>
                <a:spcPct val="0"/>
              </a:spcBef>
              <a:spcAft>
                <a:spcPct val="0"/>
              </a:spcAft>
              <a:buClrTx/>
              <a:buSzTx/>
              <a:buNone/>
            </a:pPr>
            <a:endParaRPr lang="en-US" altLang="en-US" b="1" dirty="0">
              <a:solidFill>
                <a:schemeClr val="tx1"/>
              </a:solidFill>
              <a:latin typeface="Arial" panose="020B0604020202020204" pitchFamily="34" charset="0"/>
            </a:endParaRPr>
          </a:p>
          <a:p>
            <a:pPr marL="0" lvl="0" indent="0" defTabSz="914400" eaLnBrk="0" fontAlgn="base" hangingPunct="0">
              <a:spcBef>
                <a:spcPct val="0"/>
              </a:spcBef>
              <a:spcAft>
                <a:spcPct val="0"/>
              </a:spcAft>
              <a:buClrTx/>
              <a:buSzTx/>
              <a:buNone/>
            </a:pPr>
            <a:r>
              <a:rPr lang="en-US" altLang="en-US" b="1" dirty="0">
                <a:solidFill>
                  <a:schemeClr val="tx1"/>
                </a:solidFill>
                <a:latin typeface="Arial" panose="020B0604020202020204" pitchFamily="34" charset="0"/>
              </a:rPr>
              <a:t>Removed Duplicate &amp; Invalid Records</a:t>
            </a:r>
            <a:br>
              <a:rPr lang="en-US" altLang="en-US" dirty="0">
                <a:solidFill>
                  <a:schemeClr val="tx1"/>
                </a:solidFill>
                <a:latin typeface="Arial" panose="020B0604020202020204" pitchFamily="34" charset="0"/>
              </a:rPr>
            </a:br>
            <a:r>
              <a:rPr lang="en-US" altLang="en-US" i="1" dirty="0">
                <a:solidFill>
                  <a:schemeClr val="tx1"/>
                </a:solidFill>
                <a:latin typeface="Arial" panose="020B0604020202020204" pitchFamily="34" charset="0"/>
              </a:rPr>
              <a:t>Purpose:</a:t>
            </a:r>
            <a:r>
              <a:rPr lang="en-US" altLang="en-US" dirty="0">
                <a:solidFill>
                  <a:schemeClr val="tx1"/>
                </a:solidFill>
                <a:latin typeface="Arial" panose="020B0604020202020204" pitchFamily="34" charset="0"/>
              </a:rPr>
              <a:t> Prevents inflated counts and misleading statistics.</a:t>
            </a:r>
          </a:p>
          <a:p>
            <a:pPr marL="0" lvl="0" indent="0" defTabSz="914400" eaLnBrk="0" fontAlgn="base" hangingPunct="0">
              <a:spcBef>
                <a:spcPct val="0"/>
              </a:spcBef>
              <a:spcAft>
                <a:spcPct val="0"/>
              </a:spcAft>
              <a:buClrTx/>
              <a:buSzTx/>
              <a:buNone/>
            </a:pPr>
            <a:endParaRPr lang="en-US" altLang="en-US" b="1" dirty="0">
              <a:solidFill>
                <a:schemeClr val="tx1"/>
              </a:solidFill>
              <a:latin typeface="Arial" panose="020B0604020202020204" pitchFamily="34" charset="0"/>
            </a:endParaRPr>
          </a:p>
          <a:p>
            <a:pPr marL="0" lvl="0" indent="0" defTabSz="914400" eaLnBrk="0" fontAlgn="base" hangingPunct="0">
              <a:spcBef>
                <a:spcPct val="0"/>
              </a:spcBef>
              <a:spcAft>
                <a:spcPct val="0"/>
              </a:spcAft>
              <a:buClrTx/>
              <a:buSzTx/>
              <a:buNone/>
            </a:pPr>
            <a:r>
              <a:rPr lang="en-US" altLang="en-US" b="1" dirty="0">
                <a:solidFill>
                  <a:schemeClr val="tx1"/>
                </a:solidFill>
                <a:latin typeface="Arial" panose="020B0604020202020204" pitchFamily="34" charset="0"/>
              </a:rPr>
              <a:t>Validated Numerical Fields</a:t>
            </a:r>
            <a:br>
              <a:rPr lang="en-US" altLang="en-US" dirty="0">
                <a:solidFill>
                  <a:schemeClr val="tx1"/>
                </a:solidFill>
                <a:latin typeface="Arial" panose="020B0604020202020204" pitchFamily="34" charset="0"/>
              </a:rPr>
            </a:br>
            <a:r>
              <a:rPr lang="en-US" altLang="en-US" dirty="0">
                <a:solidFill>
                  <a:schemeClr val="tx1"/>
                </a:solidFill>
                <a:latin typeface="Arial" panose="020B0604020202020204" pitchFamily="34" charset="0"/>
              </a:rPr>
              <a:t>(Number of Bags &gt; 0)</a:t>
            </a:r>
            <a:br>
              <a:rPr lang="en-US" altLang="en-US" dirty="0">
                <a:solidFill>
                  <a:schemeClr val="tx1"/>
                </a:solidFill>
                <a:latin typeface="Arial" panose="020B0604020202020204" pitchFamily="34" charset="0"/>
              </a:rPr>
            </a:br>
            <a:r>
              <a:rPr lang="en-US" altLang="en-US" i="1" dirty="0">
                <a:solidFill>
                  <a:schemeClr val="tx1"/>
                </a:solidFill>
                <a:latin typeface="Arial" panose="020B0604020202020204" pitchFamily="34" charset="0"/>
              </a:rPr>
              <a:t>Purpose:</a:t>
            </a:r>
            <a:r>
              <a:rPr lang="en-US" altLang="en-US" dirty="0">
                <a:solidFill>
                  <a:schemeClr val="tx1"/>
                </a:solidFill>
                <a:latin typeface="Arial" panose="020B0604020202020204" pitchFamily="34" charset="0"/>
              </a:rPr>
              <a:t> Ensures calculations such as mean, total demand, and segmentation are reliable.</a:t>
            </a:r>
          </a:p>
          <a:p>
            <a:pPr marL="0" lvl="0" indent="0" defTabSz="914400" eaLnBrk="0" fontAlgn="base" hangingPunct="0">
              <a:spcBef>
                <a:spcPct val="0"/>
              </a:spcBef>
              <a:spcAft>
                <a:spcPct val="0"/>
              </a:spcAft>
              <a:buClrTx/>
              <a:buSzTx/>
              <a:buNone/>
            </a:pPr>
            <a:endParaRPr lang="en-US" altLang="en-US" b="1" dirty="0">
              <a:solidFill>
                <a:schemeClr val="tx1"/>
              </a:solidFill>
              <a:latin typeface="Arial" panose="020B0604020202020204" pitchFamily="34" charset="0"/>
            </a:endParaRPr>
          </a:p>
          <a:p>
            <a:pPr marL="0" lvl="0" indent="0" defTabSz="914400" eaLnBrk="0" fontAlgn="base" hangingPunct="0">
              <a:spcBef>
                <a:spcPct val="0"/>
              </a:spcBef>
              <a:spcAft>
                <a:spcPct val="0"/>
              </a:spcAft>
              <a:buClrTx/>
              <a:buSzTx/>
              <a:buNone/>
            </a:pPr>
            <a:r>
              <a:rPr lang="en-US" altLang="en-US" b="1" dirty="0">
                <a:solidFill>
                  <a:schemeClr val="tx1"/>
                </a:solidFill>
                <a:latin typeface="Arial" panose="020B0604020202020204" pitchFamily="34" charset="0"/>
              </a:rPr>
              <a:t>Created Derived Fields (Order Month, Order Year, Month Index)</a:t>
            </a:r>
            <a:br>
              <a:rPr lang="en-US" altLang="en-US" dirty="0">
                <a:solidFill>
                  <a:schemeClr val="tx1"/>
                </a:solidFill>
                <a:latin typeface="Arial" panose="020B0604020202020204" pitchFamily="34" charset="0"/>
              </a:rPr>
            </a:br>
            <a:r>
              <a:rPr lang="en-US" altLang="en-US" i="1" dirty="0">
                <a:solidFill>
                  <a:schemeClr val="tx1"/>
                </a:solidFill>
                <a:latin typeface="Arial" panose="020B0604020202020204" pitchFamily="34" charset="0"/>
              </a:rPr>
              <a:t>Purpose:</a:t>
            </a:r>
            <a:r>
              <a:rPr lang="en-US" altLang="en-US" dirty="0">
                <a:solidFill>
                  <a:schemeClr val="tx1"/>
                </a:solidFill>
                <a:latin typeface="Arial" panose="020B0604020202020204" pitchFamily="34" charset="0"/>
              </a:rPr>
              <a:t> Simplifies trend analysis, seasonal pattern detection, and regression modeling</a:t>
            </a:r>
            <a:endParaRPr lang="en-US" dirty="0"/>
          </a:p>
        </p:txBody>
      </p:sp>
      <p:sp>
        <p:nvSpPr>
          <p:cNvPr id="13" name="Rectangle 10">
            <a:extLst>
              <a:ext uri="{FF2B5EF4-FFF2-40B4-BE49-F238E27FC236}">
                <a16:creationId xmlns:a16="http://schemas.microsoft.com/office/drawing/2014/main" id="{69B01BA4-9947-2132-6528-A0C128597D3A}"/>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Descriptive Statistics</a:t>
            </a:r>
          </a:p>
        </p:txBody>
      </p:sp>
      <p:sp>
        <p:nvSpPr>
          <p:cNvPr id="3" name="Content Placeholder 2"/>
          <p:cNvSpPr>
            <a:spLocks noGrp="1"/>
          </p:cNvSpPr>
          <p:nvPr>
            <p:ph idx="1"/>
          </p:nvPr>
        </p:nvSpPr>
        <p:spPr>
          <a:xfrm>
            <a:off x="330629" y="1270000"/>
            <a:ext cx="7410773" cy="4634854"/>
          </a:xfrm>
        </p:spPr>
        <p:txBody>
          <a:bodyPr/>
          <a:lstStyle/>
          <a:p>
            <a:r>
              <a:rPr lang="en-US" dirty="0"/>
              <a:t>Descriptive Statistics for No of Bags</a:t>
            </a:r>
          </a:p>
          <a:p>
            <a:pPr marL="0" indent="0">
              <a:buNone/>
            </a:pPr>
            <a:r>
              <a:rPr lang="en-US" dirty="0"/>
              <a:t>	   </a:t>
            </a:r>
            <a:r>
              <a:rPr lang="en-US" sz="1200" dirty="0"/>
              <a:t>Mean : 3036 Median : 3000 Mode : 5000 </a:t>
            </a:r>
          </a:p>
          <a:p>
            <a:pPr marL="0" indent="0">
              <a:buNone/>
            </a:pPr>
            <a:r>
              <a:rPr lang="en-US" sz="1200" dirty="0"/>
              <a:t>	    std: ~1420 skew : ~</a:t>
            </a:r>
            <a:r>
              <a:rPr lang="en-IN" sz="1200" dirty="0"/>
              <a:t>0.012  </a:t>
            </a:r>
          </a:p>
          <a:p>
            <a:pPr marL="0" indent="0">
              <a:buNone/>
            </a:pPr>
            <a:r>
              <a:rPr lang="en-IN" sz="1200" dirty="0"/>
              <a:t>	</a:t>
            </a:r>
            <a:endParaRPr lang="en-US" sz="1200" dirty="0"/>
          </a:p>
          <a:p>
            <a:r>
              <a:rPr lang="en-US" dirty="0"/>
              <a:t>Descriptive Statistics by Client Type</a:t>
            </a:r>
          </a:p>
          <a:p>
            <a:pPr marL="0" indent="0">
              <a:buNone/>
            </a:pPr>
            <a:r>
              <a:rPr lang="en-US" dirty="0"/>
              <a:t>	</a:t>
            </a:r>
          </a:p>
          <a:p>
            <a:endParaRPr lang="en-US" dirty="0"/>
          </a:p>
          <a:p>
            <a:endParaRPr lang="en-US" dirty="0"/>
          </a:p>
          <a:p>
            <a:r>
              <a:rPr lang="en-US" dirty="0"/>
              <a:t>Descriptive Statistics for Regional Demand</a:t>
            </a:r>
          </a:p>
          <a:p>
            <a:pPr marL="457200" lvl="1" indent="0">
              <a:buNone/>
            </a:pPr>
            <a:endParaRPr dirty="0"/>
          </a:p>
        </p:txBody>
      </p:sp>
      <p:pic>
        <p:nvPicPr>
          <p:cNvPr id="8" name="Picture 7">
            <a:extLst>
              <a:ext uri="{FF2B5EF4-FFF2-40B4-BE49-F238E27FC236}">
                <a16:creationId xmlns:a16="http://schemas.microsoft.com/office/drawing/2014/main" id="{3D6459B1-E012-B1A6-975F-1EF7DB4FEEF2}"/>
              </a:ext>
            </a:extLst>
          </p:cNvPr>
          <p:cNvPicPr>
            <a:picLocks noChangeAspect="1"/>
          </p:cNvPicPr>
          <p:nvPr/>
        </p:nvPicPr>
        <p:blipFill>
          <a:blip r:embed="rId3"/>
          <a:stretch>
            <a:fillRect/>
          </a:stretch>
        </p:blipFill>
        <p:spPr>
          <a:xfrm>
            <a:off x="4524694" y="1270000"/>
            <a:ext cx="2503788" cy="1454191"/>
          </a:xfrm>
          <a:prstGeom prst="rect">
            <a:avLst/>
          </a:prstGeom>
        </p:spPr>
      </p:pic>
      <p:sp>
        <p:nvSpPr>
          <p:cNvPr id="11" name="Rectangle 1">
            <a:extLst>
              <a:ext uri="{FF2B5EF4-FFF2-40B4-BE49-F238E27FC236}">
                <a16:creationId xmlns:a16="http://schemas.microsoft.com/office/drawing/2014/main" id="{7857CAF6-9194-8ABB-8CDA-81A998354716}"/>
              </a:ext>
            </a:extLst>
          </p:cNvPr>
          <p:cNvSpPr>
            <a:spLocks noChangeArrowheads="1"/>
          </p:cNvSpPr>
          <p:nvPr/>
        </p:nvSpPr>
        <p:spPr bwMode="auto">
          <a:xfrm>
            <a:off x="913108" y="3072394"/>
            <a:ext cx="7317784"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Business clients have a </a:t>
            </a:r>
            <a:r>
              <a:rPr kumimoji="0" lang="en-US" altLang="en-US" sz="1400" b="1" i="0" u="none" strike="noStrike" cap="none" normalizeH="0" baseline="0" dirty="0">
                <a:ln>
                  <a:noFill/>
                </a:ln>
                <a:solidFill>
                  <a:schemeClr val="tx1"/>
                </a:solidFill>
                <a:effectLst/>
                <a:latin typeface="Arial" panose="020B0604020202020204" pitchFamily="34" charset="0"/>
              </a:rPr>
              <a:t>slightly higher average order size</a:t>
            </a:r>
            <a:r>
              <a:rPr kumimoji="0" lang="en-US" altLang="en-US" sz="1400" b="0" i="0" u="none" strike="noStrike" cap="none" normalizeH="0" baseline="0" dirty="0">
                <a:ln>
                  <a:noFill/>
                </a:ln>
                <a:solidFill>
                  <a:schemeClr val="tx1"/>
                </a:solidFill>
                <a:effectLst/>
                <a:latin typeface="Arial" panose="020B0604020202020204" pitchFamily="34" charset="0"/>
              </a:rPr>
              <a:t> compared to individual clients.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Both categories have a </a:t>
            </a:r>
            <a:r>
              <a:rPr kumimoji="0" lang="en-US" altLang="en-US" sz="1400" b="1" i="0" u="none" strike="noStrike" cap="none" normalizeH="0" baseline="0" dirty="0">
                <a:ln>
                  <a:noFill/>
                </a:ln>
                <a:solidFill>
                  <a:schemeClr val="tx1"/>
                </a:solidFill>
                <a:effectLst/>
                <a:latin typeface="Arial" panose="020B0604020202020204" pitchFamily="34" charset="0"/>
              </a:rPr>
              <a:t>median of 3000 bags</a:t>
            </a:r>
            <a:r>
              <a:rPr kumimoji="0" lang="en-US" altLang="en-US" sz="1400" b="0" i="0" u="none" strike="noStrike" cap="none" normalizeH="0" baseline="0" dirty="0">
                <a:ln>
                  <a:noFill/>
                </a:ln>
                <a:solidFill>
                  <a:schemeClr val="tx1"/>
                </a:solidFill>
                <a:effectLst/>
                <a:latin typeface="Arial" panose="020B0604020202020204" pitchFamily="34" charset="0"/>
              </a:rPr>
              <a:t>, showing balanced order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Variation (std dev) is </a:t>
            </a:r>
            <a:r>
              <a:rPr kumimoji="0" lang="en-US" altLang="en-US" sz="1400" b="1" i="0" u="none" strike="noStrike" cap="none" normalizeH="0" baseline="0" dirty="0">
                <a:ln>
                  <a:noFill/>
                </a:ln>
                <a:solidFill>
                  <a:schemeClr val="tx1"/>
                </a:solidFill>
                <a:effectLst/>
                <a:latin typeface="Arial" panose="020B0604020202020204" pitchFamily="34" charset="0"/>
              </a:rPr>
              <a:t>moderate</a:t>
            </a:r>
            <a:r>
              <a:rPr kumimoji="0" lang="en-US" altLang="en-US" sz="1400" b="0" i="0" u="none" strike="noStrike" cap="none" normalizeH="0" baseline="0" dirty="0">
                <a:ln>
                  <a:noFill/>
                </a:ln>
                <a:solidFill>
                  <a:schemeClr val="tx1"/>
                </a:solidFill>
                <a:effectLst/>
                <a:latin typeface="Arial" panose="020B0604020202020204" pitchFamily="34" charset="0"/>
              </a:rPr>
              <a:t> for both groups.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Skewness values are near zero → </a:t>
            </a:r>
            <a:r>
              <a:rPr kumimoji="0" lang="en-US" altLang="en-US" sz="1400" b="1" i="0" u="none" strike="noStrike" cap="none" normalizeH="0" baseline="0" dirty="0">
                <a:ln>
                  <a:noFill/>
                </a:ln>
                <a:solidFill>
                  <a:schemeClr val="tx1"/>
                </a:solidFill>
                <a:effectLst/>
                <a:latin typeface="Arial" panose="020B0604020202020204" pitchFamily="34" charset="0"/>
              </a:rPr>
              <a:t>distributions are almost symmetric</a:t>
            </a:r>
            <a:r>
              <a:rPr kumimoji="0" lang="en-US" altLang="en-US" sz="1400" b="0" i="0" u="none" strike="noStrike" cap="none" normalizeH="0" baseline="0" dirty="0">
                <a:ln>
                  <a:noFill/>
                </a:ln>
                <a:solidFill>
                  <a:schemeClr val="tx1"/>
                </a:solidFill>
                <a:effectLst/>
                <a:latin typeface="Arial" panose="020B0604020202020204" pitchFamily="34" charset="0"/>
              </a:rPr>
              <a:t>.</a:t>
            </a:r>
          </a:p>
        </p:txBody>
      </p:sp>
      <p:sp>
        <p:nvSpPr>
          <p:cNvPr id="12" name="Rectangle 2">
            <a:extLst>
              <a:ext uri="{FF2B5EF4-FFF2-40B4-BE49-F238E27FC236}">
                <a16:creationId xmlns:a16="http://schemas.microsoft.com/office/drawing/2014/main" id="{EEC62FFE-E383-A1FE-913E-FE9CA2BABF16}"/>
              </a:ext>
            </a:extLst>
          </p:cNvPr>
          <p:cNvSpPr>
            <a:spLocks noChangeArrowheads="1"/>
          </p:cNvSpPr>
          <p:nvPr/>
        </p:nvSpPr>
        <p:spPr bwMode="auto">
          <a:xfrm>
            <a:off x="913109" y="4691441"/>
            <a:ext cx="682829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Madurai</a:t>
            </a:r>
            <a:r>
              <a:rPr kumimoji="0" lang="en-US" altLang="en-US" sz="1400" b="0" i="0" u="none" strike="noStrike" cap="none" normalizeH="0" baseline="0" dirty="0">
                <a:ln>
                  <a:noFill/>
                </a:ln>
                <a:solidFill>
                  <a:schemeClr val="tx1"/>
                </a:solidFill>
                <a:effectLst/>
                <a:latin typeface="Arial" panose="020B0604020202020204" pitchFamily="34" charset="0"/>
              </a:rPr>
              <a:t> has the highest number of orders and the most consistent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Coimbatore</a:t>
            </a:r>
            <a:r>
              <a:rPr kumimoji="0" lang="en-US" altLang="en-US" sz="1400" b="0" i="0" u="none" strike="noStrike" cap="none" normalizeH="0" baseline="0" dirty="0">
                <a:ln>
                  <a:noFill/>
                </a:ln>
                <a:solidFill>
                  <a:schemeClr val="tx1"/>
                </a:solidFill>
                <a:effectLst/>
                <a:latin typeface="Arial" panose="020B0604020202020204" pitchFamily="34" charset="0"/>
              </a:rPr>
              <a:t> has the second highest average order size and stable order quantities.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Theni</a:t>
            </a:r>
            <a:r>
              <a:rPr kumimoji="0" lang="en-US" altLang="en-US" sz="1400" b="0" i="0" u="none" strike="noStrike" cap="none" normalizeH="0" baseline="0" dirty="0">
                <a:ln>
                  <a:noFill/>
                </a:ln>
                <a:solidFill>
                  <a:schemeClr val="tx1"/>
                </a:solidFill>
                <a:effectLst/>
                <a:latin typeface="Arial" panose="020B0604020202020204" pitchFamily="34" charset="0"/>
              </a:rPr>
              <a:t> contributes the smallest share of orders but shows steady medium-sized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All regions have similar average order sizes (~3000 bags), showing </a:t>
            </a:r>
            <a:r>
              <a:rPr kumimoji="0" lang="en-US" altLang="en-US" sz="1400" b="1" i="0" u="none" strike="noStrike" cap="none" normalizeH="0" baseline="0" dirty="0">
                <a:ln>
                  <a:noFill/>
                </a:ln>
                <a:solidFill>
                  <a:schemeClr val="tx1"/>
                </a:solidFill>
                <a:effectLst/>
                <a:latin typeface="Arial" panose="020B0604020202020204" pitchFamily="34" charset="0"/>
              </a:rPr>
              <a:t>uniform pricing and demand behavior</a:t>
            </a:r>
            <a:r>
              <a:rPr kumimoji="0" lang="en-US" altLang="en-US" sz="14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Demand Forecasting</a:t>
            </a:r>
          </a:p>
        </p:txBody>
      </p:sp>
      <p:sp>
        <p:nvSpPr>
          <p:cNvPr id="3" name="Content Placeholder 2"/>
          <p:cNvSpPr>
            <a:spLocks noGrp="1"/>
          </p:cNvSpPr>
          <p:nvPr>
            <p:ph idx="1"/>
          </p:nvPr>
        </p:nvSpPr>
        <p:spPr>
          <a:xfrm>
            <a:off x="369452" y="1270001"/>
            <a:ext cx="7961747" cy="3034143"/>
          </a:xfrm>
        </p:spPr>
        <p:txBody>
          <a:bodyPr>
            <a:normAutofit lnSpcReduction="10000"/>
          </a:bodyPr>
          <a:lstStyle/>
          <a:p>
            <a:r>
              <a:rPr lang="en-US" sz="1600" dirty="0"/>
              <a:t>Monthly total orders were aggregated from 2022–2025 to identify demand trends.</a:t>
            </a:r>
          </a:p>
          <a:p>
            <a:r>
              <a:rPr lang="en-US" sz="1600" dirty="0"/>
              <a:t>A Linear Regression model was first applied but showed high error (MAPE = 50.40%), meaning it could not capture the fluctuations.</a:t>
            </a:r>
          </a:p>
          <a:p>
            <a:r>
              <a:rPr lang="en-US" sz="1600" dirty="0"/>
              <a:t>A Polynomial Regression (Degree = 7) model provided a much better fit, reducing MAPE to 23.01%.</a:t>
            </a:r>
          </a:p>
          <a:p>
            <a:r>
              <a:rPr lang="en-US" sz="1600" dirty="0"/>
              <a:t>The model effectively captured nonlinear patterns such as festival-driven spikes and event-based bulk orders.</a:t>
            </a:r>
          </a:p>
          <a:p>
            <a:r>
              <a:rPr lang="en-US" sz="1600" dirty="0"/>
              <a:t>Forecasting results help plan raw material procurement, </a:t>
            </a:r>
            <a:r>
              <a:rPr lang="en-US" sz="1600" dirty="0" err="1"/>
              <a:t>labour</a:t>
            </a:r>
            <a:r>
              <a:rPr lang="en-US" sz="1600" dirty="0"/>
              <a:t> allocation, and production scheduling more accurately.</a:t>
            </a:r>
            <a:endParaRPr sz="1600" dirty="0"/>
          </a:p>
        </p:txBody>
      </p:sp>
      <p:sp>
        <p:nvSpPr>
          <p:cNvPr id="6" name="Rectangle 3">
            <a:extLst>
              <a:ext uri="{FF2B5EF4-FFF2-40B4-BE49-F238E27FC236}">
                <a16:creationId xmlns:a16="http://schemas.microsoft.com/office/drawing/2014/main" id="{B177F83B-1F58-0BDB-7B8B-1DDE9CFD8B4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Monthly total orders were aggregated from 2022–2025 to identify demand trends.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1" name="Picture 10">
            <a:extLst>
              <a:ext uri="{FF2B5EF4-FFF2-40B4-BE49-F238E27FC236}">
                <a16:creationId xmlns:a16="http://schemas.microsoft.com/office/drawing/2014/main" id="{654DCD2C-4BF0-EBA4-EF4E-EFC10964DF38}"/>
              </a:ext>
            </a:extLst>
          </p:cNvPr>
          <p:cNvPicPr>
            <a:picLocks noChangeAspect="1"/>
          </p:cNvPicPr>
          <p:nvPr/>
        </p:nvPicPr>
        <p:blipFill>
          <a:blip r:embed="rId3"/>
          <a:stretch>
            <a:fillRect/>
          </a:stretch>
        </p:blipFill>
        <p:spPr>
          <a:xfrm>
            <a:off x="283885" y="4137047"/>
            <a:ext cx="4214224" cy="2245278"/>
          </a:xfrm>
          <a:prstGeom prst="rect">
            <a:avLst/>
          </a:prstGeom>
        </p:spPr>
      </p:pic>
      <p:pic>
        <p:nvPicPr>
          <p:cNvPr id="13" name="Picture 12">
            <a:extLst>
              <a:ext uri="{FF2B5EF4-FFF2-40B4-BE49-F238E27FC236}">
                <a16:creationId xmlns:a16="http://schemas.microsoft.com/office/drawing/2014/main" id="{1E8E76A0-7347-8C01-0B76-0C97FADFAAEC}"/>
              </a:ext>
            </a:extLst>
          </p:cNvPr>
          <p:cNvPicPr>
            <a:picLocks noChangeAspect="1"/>
          </p:cNvPicPr>
          <p:nvPr/>
        </p:nvPicPr>
        <p:blipFill>
          <a:blip r:embed="rId4"/>
          <a:stretch>
            <a:fillRect/>
          </a:stretch>
        </p:blipFill>
        <p:spPr>
          <a:xfrm>
            <a:off x="4498109" y="4137047"/>
            <a:ext cx="4066441" cy="22452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0909"/>
            <a:ext cx="7684656" cy="1320800"/>
          </a:xfrm>
        </p:spPr>
        <p:txBody>
          <a:bodyPr/>
          <a:lstStyle/>
          <a:p>
            <a:r>
              <a:rPr dirty="0"/>
              <a:t>High-Value Customer Segmentation</a:t>
            </a:r>
          </a:p>
        </p:txBody>
      </p:sp>
      <p:sp>
        <p:nvSpPr>
          <p:cNvPr id="3" name="Content Placeholder 2"/>
          <p:cNvSpPr>
            <a:spLocks noGrp="1"/>
          </p:cNvSpPr>
          <p:nvPr>
            <p:ph idx="1"/>
          </p:nvPr>
        </p:nvSpPr>
        <p:spPr>
          <a:xfrm>
            <a:off x="110835" y="1190772"/>
            <a:ext cx="4461165" cy="5745737"/>
          </a:xfrm>
        </p:spPr>
        <p:txBody>
          <a:bodyPr>
            <a:normAutofit/>
          </a:bodyPr>
          <a:lstStyle/>
          <a:p>
            <a:r>
              <a:rPr lang="en-US" sz="1600" dirty="0"/>
              <a:t>Customers were grouped based on their </a:t>
            </a:r>
            <a:r>
              <a:rPr lang="en-US" sz="1600" b="1" dirty="0"/>
              <a:t>total order quantity</a:t>
            </a:r>
            <a:r>
              <a:rPr lang="en-US" sz="1600" dirty="0"/>
              <a:t> across 2022–2025.</a:t>
            </a:r>
          </a:p>
          <a:p>
            <a:r>
              <a:rPr lang="en-US" sz="1600" b="1" dirty="0"/>
              <a:t>Mean ± Standard Deviation method</a:t>
            </a:r>
            <a:r>
              <a:rPr lang="en-US" sz="1600" dirty="0"/>
              <a:t> was used to classify customers into:</a:t>
            </a:r>
          </a:p>
          <a:p>
            <a:pPr lvl="1"/>
            <a:r>
              <a:rPr lang="en-US" b="1" dirty="0"/>
              <a:t>High-Value</a:t>
            </a:r>
            <a:r>
              <a:rPr lang="en-US" dirty="0"/>
              <a:t>: Total orders &gt; (Mean + 1 SD)</a:t>
            </a:r>
          </a:p>
          <a:p>
            <a:pPr lvl="1"/>
            <a:r>
              <a:rPr lang="en-US" b="1" dirty="0"/>
              <a:t>Medium-Value</a:t>
            </a:r>
            <a:r>
              <a:rPr lang="en-US" dirty="0"/>
              <a:t>: Within (Mean ± 1 SD)</a:t>
            </a:r>
          </a:p>
          <a:p>
            <a:pPr lvl="1"/>
            <a:r>
              <a:rPr lang="en-US" b="1" dirty="0"/>
              <a:t>Low-Value</a:t>
            </a:r>
            <a:r>
              <a:rPr lang="en-US" dirty="0"/>
              <a:t>: &lt; (Mean − 1 SD)</a:t>
            </a:r>
          </a:p>
          <a:p>
            <a:r>
              <a:rPr lang="en-US" sz="1600" b="1" dirty="0"/>
              <a:t>6 High-Value clients</a:t>
            </a:r>
            <a:r>
              <a:rPr lang="en-US" sz="1600" dirty="0"/>
              <a:t> contribute </a:t>
            </a:r>
            <a:r>
              <a:rPr lang="en-US" sz="1600" b="1" dirty="0"/>
              <a:t>42.36%</a:t>
            </a:r>
            <a:r>
              <a:rPr lang="en-US" sz="1600" dirty="0"/>
              <a:t> of total demand.</a:t>
            </a:r>
          </a:p>
          <a:p>
            <a:r>
              <a:rPr lang="en-US" sz="1600" b="1" dirty="0"/>
              <a:t>26 Medium-Value clients</a:t>
            </a:r>
            <a:r>
              <a:rPr lang="en-US" sz="1600" dirty="0"/>
              <a:t> contribute the remaining 57.64%.</a:t>
            </a:r>
          </a:p>
          <a:p>
            <a:r>
              <a:rPr lang="en-US" sz="1600" dirty="0"/>
              <a:t>High-Value clients place </a:t>
            </a:r>
            <a:r>
              <a:rPr lang="en-US" sz="1600" b="1" dirty="0"/>
              <a:t>frequent bulk orders</a:t>
            </a:r>
            <a:r>
              <a:rPr lang="en-US" sz="1600" dirty="0"/>
              <a:t> and are critical to revenue stability.</a:t>
            </a:r>
          </a:p>
          <a:p>
            <a:endParaRPr sz="1600" dirty="0"/>
          </a:p>
        </p:txBody>
      </p:sp>
      <p:pic>
        <p:nvPicPr>
          <p:cNvPr id="5" name="Picture 4">
            <a:extLst>
              <a:ext uri="{FF2B5EF4-FFF2-40B4-BE49-F238E27FC236}">
                <a16:creationId xmlns:a16="http://schemas.microsoft.com/office/drawing/2014/main" id="{D9B16A86-546E-C964-D5D3-E7FFA79C34B0}"/>
              </a:ext>
            </a:extLst>
          </p:cNvPr>
          <p:cNvPicPr>
            <a:picLocks noChangeAspect="1"/>
          </p:cNvPicPr>
          <p:nvPr/>
        </p:nvPicPr>
        <p:blipFill>
          <a:blip r:embed="rId3"/>
          <a:stretch>
            <a:fillRect/>
          </a:stretch>
        </p:blipFill>
        <p:spPr>
          <a:xfrm>
            <a:off x="4572000" y="1856509"/>
            <a:ext cx="3665796" cy="29186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Regional Demand Analysis</a:t>
            </a:r>
          </a:p>
        </p:txBody>
      </p:sp>
      <p:sp>
        <p:nvSpPr>
          <p:cNvPr id="3" name="Content Placeholder 2"/>
          <p:cNvSpPr>
            <a:spLocks noGrp="1"/>
          </p:cNvSpPr>
          <p:nvPr>
            <p:ph idx="1"/>
          </p:nvPr>
        </p:nvSpPr>
        <p:spPr>
          <a:xfrm>
            <a:off x="333531" y="1486336"/>
            <a:ext cx="4627419" cy="5062246"/>
          </a:xfrm>
        </p:spPr>
        <p:txBody>
          <a:bodyPr>
            <a:normAutofit/>
          </a:bodyPr>
          <a:lstStyle/>
          <a:p>
            <a:r>
              <a:rPr lang="en-US" sz="1600" b="1" dirty="0"/>
              <a:t>Madurai</a:t>
            </a:r>
            <a:r>
              <a:rPr lang="en-US" sz="1600" dirty="0"/>
              <a:t> has the </a:t>
            </a:r>
            <a:r>
              <a:rPr lang="en-US" sz="1600" b="1" dirty="0"/>
              <a:t>highest number of orders</a:t>
            </a:r>
            <a:r>
              <a:rPr lang="en-US" sz="1600" dirty="0"/>
              <a:t> (393) and contributes the </a:t>
            </a:r>
            <a:r>
              <a:rPr lang="en-US" sz="1600" b="1" dirty="0"/>
              <a:t>largest share of total demand</a:t>
            </a:r>
            <a:r>
              <a:rPr lang="en-US" sz="1600" dirty="0"/>
              <a:t> (≈78%).</a:t>
            </a:r>
          </a:p>
          <a:p>
            <a:r>
              <a:rPr lang="en-US" sz="1600" b="1" dirty="0"/>
              <a:t>Coimbatore</a:t>
            </a:r>
            <a:r>
              <a:rPr lang="en-US" sz="1600" dirty="0"/>
              <a:t>, though smaller in order count (71), has the </a:t>
            </a:r>
            <a:r>
              <a:rPr lang="en-US" sz="1600" b="1" dirty="0"/>
              <a:t>highest average order size</a:t>
            </a:r>
            <a:r>
              <a:rPr lang="en-US" sz="1600" dirty="0"/>
              <a:t> (≈3155 bags), indicating strong bulk-order behaviour.</a:t>
            </a:r>
          </a:p>
          <a:p>
            <a:r>
              <a:rPr lang="en-US" sz="1600" b="1" dirty="0"/>
              <a:t>Theni</a:t>
            </a:r>
            <a:r>
              <a:rPr lang="en-US" sz="1600" dirty="0"/>
              <a:t> has the lowest demand (36 orders) but maintains </a:t>
            </a:r>
            <a:r>
              <a:rPr lang="en-US" sz="1600" b="1" dirty="0"/>
              <a:t>consistent medium-volume orders</a:t>
            </a:r>
            <a:r>
              <a:rPr lang="en-US" sz="1600" dirty="0"/>
              <a:t>.</a:t>
            </a:r>
          </a:p>
          <a:p>
            <a:r>
              <a:rPr lang="en-US" sz="1600" dirty="0"/>
              <a:t>Average order size across regions is around </a:t>
            </a:r>
            <a:r>
              <a:rPr lang="en-US" sz="1600" b="1" dirty="0"/>
              <a:t>3000 bags</a:t>
            </a:r>
            <a:r>
              <a:rPr lang="en-US" sz="1600" dirty="0"/>
              <a:t>, showing </a:t>
            </a:r>
            <a:r>
              <a:rPr lang="en-US" sz="1600" b="1" dirty="0"/>
              <a:t>uniform pricing and stable customer demand</a:t>
            </a:r>
            <a:r>
              <a:rPr lang="en-US" sz="1600" dirty="0"/>
              <a:t>.</a:t>
            </a:r>
          </a:p>
          <a:p>
            <a:r>
              <a:rPr lang="en-US" sz="1600" dirty="0"/>
              <a:t>Demand is </a:t>
            </a:r>
            <a:r>
              <a:rPr lang="en-US" sz="1600" b="1" dirty="0"/>
              <a:t>concentrated in Madurai</a:t>
            </a:r>
            <a:r>
              <a:rPr lang="en-US" sz="1600" dirty="0"/>
              <a:t>, while Coimbatore represents a </a:t>
            </a:r>
            <a:r>
              <a:rPr lang="en-US" sz="1600" b="1" dirty="0"/>
              <a:t>high-value growth region</a:t>
            </a:r>
            <a:r>
              <a:rPr lang="en-US" sz="1600" dirty="0"/>
              <a:t> because of larger order sizes.</a:t>
            </a:r>
          </a:p>
          <a:p>
            <a:endParaRPr sz="1600" dirty="0"/>
          </a:p>
        </p:txBody>
      </p:sp>
      <p:pic>
        <p:nvPicPr>
          <p:cNvPr id="5" name="Picture 4">
            <a:extLst>
              <a:ext uri="{FF2B5EF4-FFF2-40B4-BE49-F238E27FC236}">
                <a16:creationId xmlns:a16="http://schemas.microsoft.com/office/drawing/2014/main" id="{7E22D5A6-84E2-B0E2-EFDA-6BA4C461088F}"/>
              </a:ext>
            </a:extLst>
          </p:cNvPr>
          <p:cNvPicPr>
            <a:picLocks noChangeAspect="1"/>
          </p:cNvPicPr>
          <p:nvPr/>
        </p:nvPicPr>
        <p:blipFill>
          <a:blip r:embed="rId2"/>
          <a:stretch>
            <a:fillRect/>
          </a:stretch>
        </p:blipFill>
        <p:spPr>
          <a:xfrm>
            <a:off x="4761105" y="1486336"/>
            <a:ext cx="3773296" cy="2448287"/>
          </a:xfrm>
          <a:prstGeom prst="rect">
            <a:avLst/>
          </a:prstGeom>
        </p:spPr>
      </p:pic>
      <p:pic>
        <p:nvPicPr>
          <p:cNvPr id="7" name="Picture 6">
            <a:extLst>
              <a:ext uri="{FF2B5EF4-FFF2-40B4-BE49-F238E27FC236}">
                <a16:creationId xmlns:a16="http://schemas.microsoft.com/office/drawing/2014/main" id="{F486A8E9-6228-28F7-A250-B7BB7105A0A1}"/>
              </a:ext>
            </a:extLst>
          </p:cNvPr>
          <p:cNvPicPr>
            <a:picLocks noChangeAspect="1"/>
          </p:cNvPicPr>
          <p:nvPr/>
        </p:nvPicPr>
        <p:blipFill>
          <a:blip r:embed="rId3"/>
          <a:stretch>
            <a:fillRect/>
          </a:stretch>
        </p:blipFill>
        <p:spPr>
          <a:xfrm>
            <a:off x="4960950" y="3934623"/>
            <a:ext cx="3573451" cy="259581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803564"/>
          </a:xfrm>
        </p:spPr>
        <p:txBody>
          <a:bodyPr/>
          <a:lstStyle/>
          <a:p>
            <a:r>
              <a:rPr dirty="0"/>
              <a:t>Key Insights </a:t>
            </a:r>
          </a:p>
        </p:txBody>
      </p:sp>
      <p:sp>
        <p:nvSpPr>
          <p:cNvPr id="3" name="Content Placeholder 2"/>
          <p:cNvSpPr>
            <a:spLocks noGrp="1"/>
          </p:cNvSpPr>
          <p:nvPr>
            <p:ph idx="1"/>
          </p:nvPr>
        </p:nvSpPr>
        <p:spPr>
          <a:xfrm>
            <a:off x="609598" y="1488613"/>
            <a:ext cx="7167419" cy="4690514"/>
          </a:xfrm>
        </p:spPr>
        <p:txBody>
          <a:bodyPr>
            <a:noAutofit/>
          </a:bodyPr>
          <a:lstStyle/>
          <a:p>
            <a:pPr marL="0" indent="0">
              <a:buNone/>
            </a:pPr>
            <a:r>
              <a:rPr lang="en-US" sz="1600" b="1" dirty="0"/>
              <a:t>Demand Insights</a:t>
            </a:r>
          </a:p>
          <a:p>
            <a:r>
              <a:rPr lang="en-US" sz="1600" dirty="0"/>
              <a:t>Demand follows a </a:t>
            </a:r>
            <a:r>
              <a:rPr lang="en-US" sz="1600" b="1" dirty="0"/>
              <a:t>nonlinear pattern</a:t>
            </a:r>
            <a:r>
              <a:rPr lang="en-US" sz="1600" dirty="0"/>
              <a:t> with clear fluctuations driven by festival seasons and bulk client orders.</a:t>
            </a:r>
          </a:p>
          <a:p>
            <a:r>
              <a:rPr lang="en-US" sz="1600" dirty="0"/>
              <a:t>Overall order distribution is </a:t>
            </a:r>
            <a:r>
              <a:rPr lang="en-US" sz="1600" b="1" dirty="0"/>
              <a:t>stable</a:t>
            </a:r>
            <a:r>
              <a:rPr lang="en-US" sz="1600" dirty="0"/>
              <a:t>, centered around 3000 bags with moderate variability.</a:t>
            </a:r>
          </a:p>
          <a:p>
            <a:pPr marL="0" indent="0">
              <a:buNone/>
            </a:pPr>
            <a:r>
              <a:rPr lang="en-US" sz="1600" b="1" dirty="0"/>
              <a:t>Customer Insights</a:t>
            </a:r>
          </a:p>
          <a:p>
            <a:r>
              <a:rPr lang="en-US" sz="1600" b="1" dirty="0"/>
              <a:t>High-Value clients (only 6 customers)</a:t>
            </a:r>
            <a:r>
              <a:rPr lang="en-US" sz="1600" dirty="0"/>
              <a:t> contribute </a:t>
            </a:r>
            <a:r>
              <a:rPr lang="en-US" sz="1600" b="1" dirty="0"/>
              <a:t>42% of total demand</a:t>
            </a:r>
            <a:r>
              <a:rPr lang="en-US" sz="1600" dirty="0"/>
              <a:t>, showing a strong Pareto effect.</a:t>
            </a:r>
          </a:p>
          <a:p>
            <a:r>
              <a:rPr lang="en-US" sz="1600" dirty="0"/>
              <a:t>Medium-value clients offer </a:t>
            </a:r>
            <a:r>
              <a:rPr lang="en-US" sz="1600" b="1" dirty="0"/>
              <a:t>significant growth potential</a:t>
            </a:r>
            <a:r>
              <a:rPr lang="en-US" sz="1600" dirty="0"/>
              <a:t> if targeted properly.</a:t>
            </a:r>
          </a:p>
          <a:p>
            <a:pPr marL="0" indent="0">
              <a:buNone/>
            </a:pPr>
            <a:r>
              <a:rPr lang="en-US" sz="1600" b="1" dirty="0"/>
              <a:t>Regional Insights</a:t>
            </a:r>
          </a:p>
          <a:p>
            <a:r>
              <a:rPr lang="en-US" sz="1600" b="1" dirty="0"/>
              <a:t>Madurai</a:t>
            </a:r>
            <a:r>
              <a:rPr lang="en-US" sz="1600" dirty="0"/>
              <a:t> is the primary demand hub with the highest order frequency.</a:t>
            </a:r>
          </a:p>
          <a:p>
            <a:r>
              <a:rPr lang="en-US" sz="1600" b="1" dirty="0"/>
              <a:t>Coimbatore</a:t>
            </a:r>
            <a:r>
              <a:rPr lang="en-US" sz="1600" dirty="0"/>
              <a:t> has the </a:t>
            </a:r>
            <a:r>
              <a:rPr lang="en-US" sz="1600" b="1" dirty="0"/>
              <a:t>highest average order size</a:t>
            </a:r>
            <a:r>
              <a:rPr lang="en-US" sz="1600" dirty="0"/>
              <a:t>, indicating strong bulk-order clients.</a:t>
            </a:r>
          </a:p>
          <a:p>
            <a:r>
              <a:rPr lang="en-US" sz="1600" b="1" dirty="0"/>
              <a:t>Theni</a:t>
            </a:r>
            <a:r>
              <a:rPr lang="en-US" sz="1600" dirty="0"/>
              <a:t> contributes low volume but shows stable demand.</a:t>
            </a:r>
          </a:p>
          <a:p>
            <a:endParaRPr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B079F-F958-0625-5F24-D0CC1C597D45}"/>
              </a:ext>
            </a:extLst>
          </p:cNvPr>
          <p:cNvSpPr>
            <a:spLocks noGrp="1"/>
          </p:cNvSpPr>
          <p:nvPr>
            <p:ph type="title"/>
          </p:nvPr>
        </p:nvSpPr>
        <p:spPr/>
        <p:txBody>
          <a:bodyPr/>
          <a:lstStyle/>
          <a:p>
            <a:r>
              <a:rPr lang="en-IN" dirty="0"/>
              <a:t>Recommendations</a:t>
            </a:r>
          </a:p>
        </p:txBody>
      </p:sp>
      <p:sp>
        <p:nvSpPr>
          <p:cNvPr id="3" name="Content Placeholder 2">
            <a:extLst>
              <a:ext uri="{FF2B5EF4-FFF2-40B4-BE49-F238E27FC236}">
                <a16:creationId xmlns:a16="http://schemas.microsoft.com/office/drawing/2014/main" id="{B1FA44CC-1834-CADD-C991-9BD33CB8680C}"/>
              </a:ext>
            </a:extLst>
          </p:cNvPr>
          <p:cNvSpPr>
            <a:spLocks noGrp="1"/>
          </p:cNvSpPr>
          <p:nvPr>
            <p:ph idx="1"/>
          </p:nvPr>
        </p:nvSpPr>
        <p:spPr>
          <a:xfrm>
            <a:off x="609598" y="1393972"/>
            <a:ext cx="7407565" cy="5025301"/>
          </a:xfrm>
        </p:spPr>
        <p:txBody>
          <a:bodyPr>
            <a:normAutofit/>
          </a:bodyPr>
          <a:lstStyle/>
          <a:p>
            <a:pPr marL="0" indent="0">
              <a:buNone/>
            </a:pPr>
            <a:r>
              <a:rPr lang="en-US" sz="1600" b="1" dirty="0"/>
              <a:t>Operational &amp; Production</a:t>
            </a:r>
          </a:p>
          <a:p>
            <a:r>
              <a:rPr lang="en-US" sz="1600" dirty="0"/>
              <a:t>Use polynomial forecasting to plan </a:t>
            </a:r>
            <a:r>
              <a:rPr lang="en-US" sz="1600" b="1" dirty="0"/>
              <a:t>raw material procurement</a:t>
            </a:r>
            <a:r>
              <a:rPr lang="en-US" sz="1600" dirty="0"/>
              <a:t> and </a:t>
            </a:r>
            <a:r>
              <a:rPr lang="en-US" sz="1600" b="1" dirty="0" err="1"/>
              <a:t>labour</a:t>
            </a:r>
            <a:r>
              <a:rPr lang="en-US" sz="1600" b="1" dirty="0"/>
              <a:t> scheduling</a:t>
            </a:r>
            <a:r>
              <a:rPr lang="en-US" sz="1600" dirty="0"/>
              <a:t> ahead of peak months.</a:t>
            </a:r>
          </a:p>
          <a:p>
            <a:r>
              <a:rPr lang="en-US" sz="1600" dirty="0"/>
              <a:t>Maintain </a:t>
            </a:r>
            <a:r>
              <a:rPr lang="en-US" sz="1600" b="1" dirty="0"/>
              <a:t>10–15% safety stock</a:t>
            </a:r>
            <a:r>
              <a:rPr lang="en-US" sz="1600" dirty="0"/>
              <a:t> to handle sudden demand spikes.</a:t>
            </a:r>
          </a:p>
          <a:p>
            <a:pPr marL="0" indent="0">
              <a:buNone/>
            </a:pPr>
            <a:r>
              <a:rPr lang="en-US" sz="1600" b="1" dirty="0"/>
              <a:t>Customer Strategy</a:t>
            </a:r>
          </a:p>
          <a:p>
            <a:r>
              <a:rPr lang="en-US" sz="1600" dirty="0"/>
              <a:t>Prioritize High-Value clients with </a:t>
            </a:r>
            <a:r>
              <a:rPr lang="en-US" sz="1600" b="1" dirty="0"/>
              <a:t>faster delivery, priority handling, and personalized service</a:t>
            </a:r>
            <a:r>
              <a:rPr lang="en-US" sz="1600" dirty="0"/>
              <a:t>.</a:t>
            </a:r>
          </a:p>
          <a:p>
            <a:r>
              <a:rPr lang="en-US" sz="1600" dirty="0"/>
              <a:t>Develop targeted offers for Medium-Value clients to </a:t>
            </a:r>
            <a:r>
              <a:rPr lang="en-US" sz="1600" b="1" dirty="0"/>
              <a:t>increase order frequency</a:t>
            </a:r>
            <a:r>
              <a:rPr lang="en-US" sz="1600" dirty="0"/>
              <a:t>.</a:t>
            </a:r>
          </a:p>
          <a:p>
            <a:pPr marL="0" indent="0">
              <a:buNone/>
            </a:pPr>
            <a:r>
              <a:rPr lang="en-US" sz="1600" b="1" dirty="0"/>
              <a:t>Regional Strategy</a:t>
            </a:r>
          </a:p>
          <a:p>
            <a:r>
              <a:rPr lang="en-US" sz="1600" dirty="0"/>
              <a:t>Strengthen logistics and capacity in </a:t>
            </a:r>
            <a:r>
              <a:rPr lang="en-US" sz="1600" b="1" dirty="0"/>
              <a:t>Madurai</a:t>
            </a:r>
            <a:r>
              <a:rPr lang="en-US" sz="1600" dirty="0"/>
              <a:t> (main market).</a:t>
            </a:r>
          </a:p>
          <a:p>
            <a:r>
              <a:rPr lang="en-US" sz="1600" dirty="0"/>
              <a:t>Expand marketing and partnerships in </a:t>
            </a:r>
            <a:r>
              <a:rPr lang="en-US" sz="1600" b="1" dirty="0"/>
              <a:t>Coimbatore</a:t>
            </a:r>
            <a:r>
              <a:rPr lang="en-US" sz="1600" dirty="0"/>
              <a:t>, where order sizes are highest.</a:t>
            </a:r>
          </a:p>
          <a:p>
            <a:r>
              <a:rPr lang="en-US" sz="1600" dirty="0"/>
              <a:t>Improve cost-effective distribution to </a:t>
            </a:r>
            <a:r>
              <a:rPr lang="en-US" sz="1600" b="1" dirty="0"/>
              <a:t>Theni</a:t>
            </a:r>
            <a:r>
              <a:rPr lang="en-US" sz="1600" dirty="0"/>
              <a:t> to increase order volume.</a:t>
            </a:r>
          </a:p>
          <a:p>
            <a:endParaRPr lang="en-IN" sz="1600" dirty="0"/>
          </a:p>
        </p:txBody>
      </p:sp>
    </p:spTree>
    <p:extLst>
      <p:ext uri="{BB962C8B-B14F-4D97-AF65-F5344CB8AC3E}">
        <p14:creationId xmlns:p14="http://schemas.microsoft.com/office/powerpoint/2010/main" val="84480268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460</TotalTime>
  <Words>1304</Words>
  <Application>Microsoft Office PowerPoint</Application>
  <PresentationFormat>On-screen Show (4:3)</PresentationFormat>
  <Paragraphs>103</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Trebuchet MS</vt:lpstr>
      <vt:lpstr>Wingdings 3</vt:lpstr>
      <vt:lpstr>Facet</vt:lpstr>
      <vt:lpstr>Business Data Management Project</vt:lpstr>
      <vt:lpstr>About the Business</vt:lpstr>
      <vt:lpstr>Problem Statements</vt:lpstr>
      <vt:lpstr>Dataset Overview</vt:lpstr>
      <vt:lpstr>Data Cleaning Process</vt:lpstr>
      <vt:lpstr>Descriptive Statistics</vt:lpstr>
      <vt:lpstr>Demand Forecasting</vt:lpstr>
      <vt:lpstr>High-Value Customer Segmentation</vt:lpstr>
      <vt:lpstr>Regional Demand Analysis</vt:lpstr>
      <vt:lpstr>Key Insights </vt:lpstr>
      <vt:lpstr>Recommendations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Riteesh Meganathan</cp:lastModifiedBy>
  <cp:revision>1</cp:revision>
  <dcterms:created xsi:type="dcterms:W3CDTF">2013-01-27T09:14:16Z</dcterms:created>
  <dcterms:modified xsi:type="dcterms:W3CDTF">2025-11-16T12:11:52Z</dcterms:modified>
  <cp:category/>
</cp:coreProperties>
</file>